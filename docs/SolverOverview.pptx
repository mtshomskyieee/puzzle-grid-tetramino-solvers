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is the spine of the walkthrough; the three notebooks in notebooks/ are the hands-on part. The arc: imitate (VAE) -&gt; add a value head (GAN) -&gt; evaluate every legal move (transformer). Headline numbers are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trains on the same clean dataset and plays on the same engine, so this is apples-to-apples. The fourth row (direct policy) is a postscript: distilling the winning ranker back into a generator. It plateaus with the other generators, which is the sharpest evidence for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pacing: ~10 min foundations, then ~15 min per solver with the matching notebook open, 10 min wrap-up. Each solver section ends with a 'notebook guide' slide naming the cells to run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board is a 20x10 occupancy grid, 7 tetrominoes. A 'move' for the AI interface is a final resting pose (row, col, rotation); the engine validates it. No model ever saw a human game: the heuristic player is the only teacher.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talk over HTTP. The FastAPI server is authoritative for rules. The generator and every replay client are just clients, so data is generated under exactly the rules the models are evaluated under. Some replays also run in-process (GANFriendlyGame / --inprocess) for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Prerequisite #1. The old engine checked only whether the column corridor above a target was empty, so it offered placements inside enclosed pockets: pieces teleported under overhangs. placement.py does a BFS from spawn over left/right/rotate/soft-drop. Legal = reachable AND resting. In the figure, the pocket at row 18 is never covered by any legal pose. Shown live: SCENARIO='overhang_pocket' in any notebook.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Prerequisite #2: the teacher. A greedy one-ply scorer over every legal placement. The magnitudes are deliberately lopsided: line clears are worth tens of thousands, shaping terms fractions to hundreds, so it clears whenever it can. The I-piece has its own evaluator. This hand-written evaluate_placement is exactly what the transformer later learns to replace.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learner consumes the same (state, action, reward) triple. Because the data is clean and strong, a model that fails to play is failing at generalization, not starved of examples. validate_training_data.py replays each game via the API and checks recorded vs actual clears.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lab scenarios defined in nb_setup.py. Every notebook has a cell with PIECE and SCENARIO: change them and re-run downward. Good contrasts: almost_line + I (free clear), right_well + I (Tetris well), bumpy + T (off-distribution surface), overhang_pocket (reachability).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approach and the canonical model in the original codebase. Training looks great; play does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encode (board, true action) into z, decode back to the action, loss = recon + beta*KL. v2 vs v1: strided convs + flatten instead of global average pooling (keeps holes/wells/near-full rows), wider residual MLPs, separate decoder heads, and the from_logits=True loss fix. Notebook 01 section 3 prints the board encoder summary; section 7 shows conv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v1 root cause from vae_explaination_and_improvement_plan.md. Training learns 'given this board and this exact placement, what z explains it?' but v1 asked 'given a random z, where should the piece go?'. v2 fixes the mismatch by scoring every legal move with its posterior mean. Notebook 01 section 8 implements this ranking inline (vae_score_candidates).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Generated with the shipped models on scenario almost_line, piece I. The VAE's lowest-reconstruction pick is a centered vertical I: the teacher's typical placement outvotes the rare-but-correct clear in column 9. The GAN and transformer both take the free line. Reproduce in notebook 01 section 6 (PIECE='I', SCENARIO='almost_line') and section 11 (VAE pick vs line-clear oracle).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Diagnosis from VAE_to_GAN_to_TransformerRanking.md section 3. Instrumentation showed that across all legal placements at every step, the best achievable line clear was 0: the board is driven into a shape where no piece can complete a row, so no replay knob (line-clear bonus 3 to 15, removing the low-stack filter) can help.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these cells live. With shipped weights the whole notebook runs in seconds on CPU. Point out in section 8 whether the lowest recon loss is actually the clear; often it is not. Section 10's latent sweep shows which z dimensions are alive.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Chosen precisely because it adds what the VAE lacked: an explicit line-clear objective.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networks reuse the VAE v2 board encoder recipe. Discriminator sees pre-board, post-board (simulated), and the 13-d action vector. Training: supervised generator warmup, then alternating D/G steps with a line-clear reward. VAE v2 used line clears only as sample weights; the GAN makes them a direct objective. Notebook 02 section 3 prints the generator summary.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play time the generator explores (noise samples) and the discriminator plus simulated line clears choose. Note the 'greedier search hurt' negative result: over-weighting immediate clears creates holes. Single-piece play was more reliable (never 0) but not stronger.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GAN is still a generator, so it still suffers covariate shift, just milder. Single-piece games top out at 29 to 40 pieces: the policy is locally competent and the failure is cumulative board management. The notebook's section 9 decomposes the ranking terms: if flipping LINE_CLEAR_BONUS changes the pick, the line-clear signal is doing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shift. The transformer never proposes a move.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candidate becomes a 204-token sequence: 200 board cells plus four designed tokens. Surface and hole-fit are inductive biases that make 'is it paying attention to the right things' checkable. Shipped model is small: d_model 64, 4 heads, 2 layers (CLI defaults are larger). Three heads: shaped score plus auxiliary lines_cleared and holes_created.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crucial change versus the legacy transformer, which saw only the one demonstrated move per board. Contrastive labels over all candidates teach the difference between a good and a bad move on the same board: an actual value function. 51,812 examples from 60 clean games, 20 epochs.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of three in-process games and the API cross-check were stopped by the move cap, not by topping out, so the true ceiling is higher. About 94% of all placed cells end up in cleared lines, i.e. near-hole-free play. The API cross-check confirms the count isn't an in-process artifact.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Single-piece study, cap 200 moves. I/O/L effectively solved (about 2.5 pieces per line, the optimum). S/Z = 0 is a property of the pieces: an S-only or Z-only stream cannot fill a flat 10-wide row without an overhang. Interesting: this inverts the GAN's per-piece profile, where T was best.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VAE negative reconstruction loss at each resting cell (best over rotations); right: transformer predicted score (best over rotations). Brighter = preferred in both. Same board, same candidate set, opposite questions. The transformer's best cell is the line-clearing column; the VAE's is the teacher-typical center. Notebook 03 section 6 produces the score heatmap; notebook 01 section 8 the recon heatmap.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03 is aimed at researchers: does attention go to the right cells and tokens? Suggested eval suite whenever you retrain: special-token-&gt;board maps, per-head entropy (very high = uniform = unused head), landing-site mass, and ablating holefit/surface to see if the argmax flips. Probes table is in section 9 of the notebook.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follow-ups: a direct-policy student taught by the ranker, and agent-based placement.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 takes board+surface+piece and directly predicts rotation (4-way) and column (10-way), snapped to the nearest legal pose. Teacher self-play gives on-policy data; DAgger lets the student drive while the teacher labels; soft labels transfer the teacher's whole preference distribution. Column accuracy stayed at 17 to 26%: the teacher decides by comparing ~30 candidates, which a single softmax can't reproduce.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replay_using_agents.py: a LangGraph of four agents. The scorer chooses the target pose; a BFS with parent pointers reconstructs a path of /move commands, refusing soft-drop edges that would lock early at the wrong place. On a miss, a one-shot LLM assist picks the next piece's placement from the enumerated legal list, then the scorer takes over again. Normal play never calls the LLM.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chart. Every generator clusters low; the ranker is alone at 150+, capped by the move limit rather than by topping out.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lessons. The order matters: without the engine fix and clean data none of the comparisons mean anything.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from the progress report, plus the commands to reproduce each headline number. The API server must be running for the API-based replays; --inprocess runs need no server.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822960" y="1737360"/>
            <a:ext cx="10515600" cy="1097280"/>
          </a:xfrm>
          <a:prstGeom prst="rect">
            <a:avLst/>
          </a:prstGeom>
          <a:noFill/>
        </p:spPr>
        <p:txBody>
          <a:bodyPr wrap="square" anchor="t">
            <a:spAutoFit/>
          </a:bodyPr>
          <a:lstStyle/>
          <a:p>
            <a:pPr algn="l"/>
            <a:r>
              <a:rPr sz="4800" b="1">
                <a:solidFill>
                  <a:srgbClr val="E2E8F0"/>
                </a:solidFill>
              </a:rPr>
              <a:t>Learning to Play the Puzzle Grid</a:t>
            </a:r>
          </a:p>
        </p:txBody>
      </p:sp>
      <p:sp>
        <p:nvSpPr>
          <p:cNvPr id="3" name="TextBox 2"/>
          <p:cNvSpPr txBox="1"/>
          <p:nvPr/>
        </p:nvSpPr>
        <p:spPr>
          <a:xfrm>
            <a:off x="822960" y="2743200"/>
            <a:ext cx="10515600" cy="731520"/>
          </a:xfrm>
          <a:prstGeom prst="rect">
            <a:avLst/>
          </a:prstGeom>
          <a:noFill/>
        </p:spPr>
        <p:txBody>
          <a:bodyPr wrap="square" anchor="t">
            <a:spAutoFit/>
          </a:bodyPr>
          <a:lstStyle/>
          <a:p>
            <a:pPr algn="l"/>
            <a:r>
              <a:rPr sz="2400" b="0">
                <a:solidFill>
                  <a:srgbClr val="94A3B8"/>
                </a:solidFill>
              </a:rPr>
              <a:t>VAE → GAN → Transformer ranking: three tetromino solvers trained on heuristic self-play</a:t>
            </a:r>
          </a:p>
        </p:txBody>
      </p:sp>
      <p:sp>
        <p:nvSpPr>
          <p:cNvPr id="4" name="Rounded Rectangle 3"/>
          <p:cNvSpPr/>
          <p:nvPr/>
        </p:nvSpPr>
        <p:spPr>
          <a:xfrm>
            <a:off x="822960" y="4023360"/>
            <a:ext cx="3017520" cy="1005840"/>
          </a:xfrm>
          <a:prstGeom prst="roundRect">
            <a:avLst>
              <a:gd name="adj" fmla="val 12000"/>
            </a:avLst>
          </a:prstGeom>
          <a:solidFill>
            <a:srgbClr val="131C2E"/>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000" b="0">
                <a:solidFill>
                  <a:srgbClr val="E2E8F0"/>
                </a:solidFill>
              </a:rPr>
              <a:t>VAE v2</a:t>
            </a:r>
          </a:p>
          <a:p>
            <a:pPr algn="ctr"/>
            <a:r>
              <a:rPr sz="2000" b="0">
                <a:solidFill>
                  <a:srgbClr val="E2E8F0"/>
                </a:solidFill>
              </a:rPr>
              <a:t>0 lines</a:t>
            </a:r>
          </a:p>
        </p:txBody>
      </p:sp>
      <p:sp>
        <p:nvSpPr>
          <p:cNvPr id="5" name="Right Arrow 4"/>
          <p:cNvSpPr/>
          <p:nvPr/>
        </p:nvSpPr>
        <p:spPr>
          <a:xfrm>
            <a:off x="3886200" y="4389120"/>
            <a:ext cx="59436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26280" y="4023360"/>
            <a:ext cx="3017520" cy="1005840"/>
          </a:xfrm>
          <a:prstGeom prst="roundRect">
            <a:avLst>
              <a:gd name="adj" fmla="val 12000"/>
            </a:avLst>
          </a:prstGeom>
          <a:solidFill>
            <a:srgbClr val="131C2E"/>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000" b="0">
                <a:solidFill>
                  <a:srgbClr val="E2E8F0"/>
                </a:solidFill>
              </a:rPr>
              <a:t>GAN</a:t>
            </a:r>
          </a:p>
          <a:p>
            <a:pPr algn="ctr"/>
            <a:r>
              <a:rPr sz="2000" b="0">
                <a:solidFill>
                  <a:srgbClr val="E2E8F0"/>
                </a:solidFill>
              </a:rPr>
              <a:t>6 lines</a:t>
            </a:r>
          </a:p>
        </p:txBody>
      </p:sp>
      <p:sp>
        <p:nvSpPr>
          <p:cNvPr id="7" name="Right Arrow 6"/>
          <p:cNvSpPr/>
          <p:nvPr/>
        </p:nvSpPr>
        <p:spPr>
          <a:xfrm>
            <a:off x="7589520" y="4389120"/>
            <a:ext cx="59436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0" y="4023360"/>
            <a:ext cx="3017520" cy="1005840"/>
          </a:xfrm>
          <a:prstGeom prst="roundRect">
            <a:avLst>
              <a:gd name="adj" fmla="val 12000"/>
            </a:avLst>
          </a:prstGeom>
          <a:solidFill>
            <a:srgbClr val="131C2E"/>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000" b="0">
                <a:solidFill>
                  <a:srgbClr val="E2E8F0"/>
                </a:solidFill>
              </a:rPr>
              <a:t>Transformer ranker</a:t>
            </a:r>
          </a:p>
          <a:p>
            <a:pPr algn="ctr"/>
            <a:r>
              <a:rPr sz="2000" b="0">
                <a:solidFill>
                  <a:srgbClr val="E2E8F0"/>
                </a:solidFill>
              </a:rPr>
              <a:t>157 lines</a:t>
            </a:r>
          </a:p>
        </p:txBody>
      </p:sp>
      <p:sp>
        <p:nvSpPr>
          <p:cNvPr id="9" name="TextBox 8"/>
          <p:cNvSpPr txBox="1"/>
          <p:nvPr/>
        </p:nvSpPr>
        <p:spPr>
          <a:xfrm>
            <a:off x="822960" y="5852160"/>
            <a:ext cx="10515600" cy="457200"/>
          </a:xfrm>
          <a:prstGeom prst="rect">
            <a:avLst/>
          </a:prstGeom>
          <a:noFill/>
        </p:spPr>
        <p:txBody>
          <a:bodyPr wrap="square" anchor="t">
            <a:spAutoFit/>
          </a:bodyPr>
          <a:lstStyle/>
          <a:p>
            <a:pPr algn="l"/>
            <a:r>
              <a:rPr sz="1400" b="0">
                <a:solidFill>
                  <a:srgbClr val="94A3B8"/>
                </a:solidFill>
              </a:rPr>
              <a:t>Solver overview &amp; notebook walkthrough  ·  puzzle-grid-tetramino-solvers  ·  write-up: medium.com/@mtshomsky/6a0b847a522f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The headline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Same engine, same clean data, four solvers</a:t>
            </a:r>
          </a:p>
        </p:txBody>
      </p:sp>
      <p:graphicFrame>
        <p:nvGraphicFramePr>
          <p:cNvPr id="5" name="Table 4"/>
          <p:cNvGraphicFramePr>
            <a:graphicFrameLocks noGrp="1"/>
          </p:cNvGraphicFramePr>
          <p:nvPr/>
        </p:nvGraphicFramePr>
        <p:xfrm>
          <a:off x="502920" y="1463040"/>
          <a:ext cx="11155678" cy="2834640"/>
        </p:xfrm>
        <a:graphic>
          <a:graphicData uri="http://schemas.openxmlformats.org/drawingml/2006/table">
            <a:tbl>
              <a:tblPr firstRow="1" bandRow="1">
                <a:tableStyleId>{5C22544A-7EE6-4342-B048-85BDC9FD1C3A}</a:tableStyleId>
              </a:tblPr>
              <a:tblGrid>
                <a:gridCol w="2159163"/>
                <a:gridCol w="5038049"/>
                <a:gridCol w="1619372"/>
                <a:gridCol w="2339094"/>
              </a:tblGrid>
              <a:tr h="566928">
                <a:tc>
                  <a:txBody>
                    <a:bodyPr wrap="square"/>
                    <a:lstStyle/>
                    <a:p>
                      <a:r>
                        <a:rPr sz="1500" b="1">
                          <a:solidFill>
                            <a:srgbClr val="67E8F9"/>
                          </a:solidFill>
                        </a:rPr>
                        <a:t>Approach</a:t>
                      </a:r>
                    </a:p>
                  </a:txBody>
                  <a:tcPr marL="73152" marR="73152" anchor="ctr">
                    <a:solidFill>
                      <a:srgbClr val="1E293B"/>
                    </a:solidFill>
                  </a:tcPr>
                </a:tc>
                <a:tc>
                  <a:txBody>
                    <a:bodyPr wrap="square"/>
                    <a:lstStyle/>
                    <a:p>
                      <a:r>
                        <a:rPr sz="1500" b="1">
                          <a:solidFill>
                            <a:srgbClr val="67E8F9"/>
                          </a:solidFill>
                        </a:rPr>
                        <a:t>Core idea</a:t>
                      </a:r>
                    </a:p>
                  </a:txBody>
                  <a:tcPr marL="73152" marR="73152" anchor="ctr">
                    <a:solidFill>
                      <a:srgbClr val="1E293B"/>
                    </a:solidFill>
                  </a:tcPr>
                </a:tc>
                <a:tc>
                  <a:txBody>
                    <a:bodyPr wrap="square"/>
                    <a:lstStyle/>
                    <a:p>
                      <a:r>
                        <a:rPr sz="1500" b="1">
                          <a:solidFill>
                            <a:srgbClr val="67E8F9"/>
                          </a:solidFill>
                        </a:rPr>
                        <a:t>Max lines (mixed)</a:t>
                      </a:r>
                    </a:p>
                  </a:txBody>
                  <a:tcPr marL="73152" marR="73152" anchor="ctr">
                    <a:solidFill>
                      <a:srgbClr val="1E293B"/>
                    </a:solidFill>
                  </a:tcPr>
                </a:tc>
                <a:tc>
                  <a:txBody>
                    <a:bodyPr wrap="square"/>
                    <a:lstStyle/>
                    <a:p>
                      <a:r>
                        <a:rPr sz="1500" b="1">
                          <a:solidFill>
                            <a:srgbClr val="67E8F9"/>
                          </a:solidFill>
                        </a:rPr>
                        <a:t>Verdict</a:t>
                      </a:r>
                    </a:p>
                  </a:txBody>
                  <a:tcPr marL="73152" marR="73152" anchor="ctr">
                    <a:solidFill>
                      <a:srgbClr val="1E293B"/>
                    </a:solidFill>
                  </a:tcPr>
                </a:tc>
              </a:tr>
              <a:tr h="566928">
                <a:tc>
                  <a:txBody>
                    <a:bodyPr wrap="square"/>
                    <a:lstStyle/>
                    <a:p>
                      <a:r>
                        <a:rPr sz="1500" b="0">
                          <a:solidFill>
                            <a:srgbClr val="E2E8F0"/>
                          </a:solidFill>
                        </a:rPr>
                        <a:t>VAE v2</a:t>
                      </a:r>
                    </a:p>
                  </a:txBody>
                  <a:tcPr marL="73152" marR="73152" anchor="ctr">
                    <a:solidFill>
                      <a:srgbClr val="131C2E"/>
                    </a:solidFill>
                  </a:tcPr>
                </a:tc>
                <a:tc>
                  <a:txBody>
                    <a:bodyPr wrap="square"/>
                    <a:lstStyle/>
                    <a:p>
                      <a:r>
                        <a:rPr sz="1500" b="0">
                          <a:solidFill>
                            <a:srgbClr val="E2E8F0"/>
                          </a:solidFill>
                        </a:rPr>
                        <a:t>Reconstruct the demonstrated placement; rank legal moves by posterior</a:t>
                      </a:r>
                    </a:p>
                  </a:txBody>
                  <a:tcPr marL="73152" marR="73152" anchor="ctr">
                    <a:solidFill>
                      <a:srgbClr val="131C2E"/>
                    </a:solidFill>
                  </a:tcPr>
                </a:tc>
                <a:tc>
                  <a:txBody>
                    <a:bodyPr wrap="square"/>
                    <a:lstStyle/>
                    <a:p>
                      <a:r>
                        <a:rPr sz="1500" b="0">
                          <a:solidFill>
                            <a:srgbClr val="E2E8F0"/>
                          </a:solidFill>
                        </a:rPr>
                        <a:t>0</a:t>
                      </a:r>
                    </a:p>
                  </a:txBody>
                  <a:tcPr marL="73152" marR="73152" anchor="ctr">
                    <a:solidFill>
                      <a:srgbClr val="131C2E"/>
                    </a:solidFill>
                  </a:tcPr>
                </a:tc>
                <a:tc>
                  <a:txBody>
                    <a:bodyPr wrap="square"/>
                    <a:lstStyle/>
                    <a:p>
                      <a:r>
                        <a:rPr sz="1500" b="0">
                          <a:solidFill>
                            <a:srgbClr val="E2E8F0"/>
                          </a:solidFill>
                        </a:rPr>
                        <a:t>Fails: covariate shift</a:t>
                      </a:r>
                    </a:p>
                  </a:txBody>
                  <a:tcPr marL="73152" marR="73152" anchor="ctr">
                    <a:solidFill>
                      <a:srgbClr val="131C2E"/>
                    </a:solidFill>
                  </a:tcPr>
                </a:tc>
              </a:tr>
              <a:tr h="566928">
                <a:tc>
                  <a:txBody>
                    <a:bodyPr wrap="square"/>
                    <a:lstStyle/>
                    <a:p>
                      <a:r>
                        <a:rPr sz="1500" b="0">
                          <a:solidFill>
                            <a:srgbClr val="E2E8F0"/>
                          </a:solidFill>
                        </a:rPr>
                        <a:t>GAN</a:t>
                      </a:r>
                    </a:p>
                  </a:txBody>
                  <a:tcPr marL="73152" marR="73152" anchor="ctr">
                    <a:solidFill>
                      <a:srgbClr val="0B1220"/>
                    </a:solidFill>
                  </a:tcPr>
                </a:tc>
                <a:tc>
                  <a:txBody>
                    <a:bodyPr wrap="square"/>
                    <a:lstStyle/>
                    <a:p>
                      <a:r>
                        <a:rPr sz="1500" b="0">
                          <a:solidFill>
                            <a:srgbClr val="E2E8F0"/>
                          </a:solidFill>
                        </a:rPr>
                        <a:t>Generator proposes; discriminator w/ line-clear head judges</a:t>
                      </a:r>
                    </a:p>
                  </a:txBody>
                  <a:tcPr marL="73152" marR="73152" anchor="ctr">
                    <a:solidFill>
                      <a:srgbClr val="0B1220"/>
                    </a:solidFill>
                  </a:tcPr>
                </a:tc>
                <a:tc>
                  <a:txBody>
                    <a:bodyPr wrap="square"/>
                    <a:lstStyle/>
                    <a:p>
                      <a:r>
                        <a:rPr sz="1500" b="0">
                          <a:solidFill>
                            <a:srgbClr val="E2E8F0"/>
                          </a:solidFill>
                        </a:rPr>
                        <a:t>6</a:t>
                      </a:r>
                    </a:p>
                  </a:txBody>
                  <a:tcPr marL="73152" marR="73152" anchor="ctr">
                    <a:solidFill>
                      <a:srgbClr val="0B1220"/>
                    </a:solidFill>
                  </a:tcPr>
                </a:tc>
                <a:tc>
                  <a:txBody>
                    <a:bodyPr wrap="square"/>
                    <a:lstStyle/>
                    <a:p>
                      <a:r>
                        <a:rPr sz="1500" b="0">
                          <a:solidFill>
                            <a:srgbClr val="E2E8F0"/>
                          </a:solidFill>
                        </a:rPr>
                        <a:t>Works, weak &amp; high variance</a:t>
                      </a:r>
                    </a:p>
                  </a:txBody>
                  <a:tcPr marL="73152" marR="73152" anchor="ctr">
                    <a:solidFill>
                      <a:srgbClr val="0B1220"/>
                    </a:solidFill>
                  </a:tcPr>
                </a:tc>
              </a:tr>
              <a:tr h="566928">
                <a:tc>
                  <a:txBody>
                    <a:bodyPr wrap="square"/>
                    <a:lstStyle/>
                    <a:p>
                      <a:r>
                        <a:rPr sz="1500" b="0">
                          <a:solidFill>
                            <a:srgbClr val="E2E8F0"/>
                          </a:solidFill>
                        </a:rPr>
                        <a:t>Transformer direct policy</a:t>
                      </a:r>
                    </a:p>
                  </a:txBody>
                  <a:tcPr marL="73152" marR="73152" anchor="ctr">
                    <a:solidFill>
                      <a:srgbClr val="131C2E"/>
                    </a:solidFill>
                  </a:tcPr>
                </a:tc>
                <a:tc>
                  <a:txBody>
                    <a:bodyPr wrap="square"/>
                    <a:lstStyle/>
                    <a:p>
                      <a:r>
                        <a:rPr sz="1500" b="0">
                          <a:solidFill>
                            <a:srgbClr val="E2E8F0"/>
                          </a:solidFill>
                        </a:rPr>
                        <a:t>Distill the ranker into a (rotation, column) generator</a:t>
                      </a:r>
                    </a:p>
                  </a:txBody>
                  <a:tcPr marL="73152" marR="73152" anchor="ctr">
                    <a:solidFill>
                      <a:srgbClr val="131C2E"/>
                    </a:solidFill>
                  </a:tcPr>
                </a:tc>
                <a:tc>
                  <a:txBody>
                    <a:bodyPr wrap="square"/>
                    <a:lstStyle/>
                    <a:p>
                      <a:r>
                        <a:rPr sz="1500" b="0">
                          <a:solidFill>
                            <a:srgbClr val="E2E8F0"/>
                          </a:solidFill>
                        </a:rPr>
                        <a:t>5</a:t>
                      </a:r>
                    </a:p>
                  </a:txBody>
                  <a:tcPr marL="73152" marR="73152" anchor="ctr">
                    <a:solidFill>
                      <a:srgbClr val="131C2E"/>
                    </a:solidFill>
                  </a:tcPr>
                </a:tc>
                <a:tc>
                  <a:txBody>
                    <a:bodyPr wrap="square"/>
                    <a:lstStyle/>
                    <a:p>
                      <a:r>
                        <a:rPr sz="1500" b="0">
                          <a:solidFill>
                            <a:srgbClr val="E2E8F0"/>
                          </a:solidFill>
                        </a:rPr>
                        <a:t>Confirms ranking &gt; generation</a:t>
                      </a:r>
                    </a:p>
                  </a:txBody>
                  <a:tcPr marL="73152" marR="73152" anchor="ctr">
                    <a:solidFill>
                      <a:srgbClr val="131C2E"/>
                    </a:solidFill>
                  </a:tcPr>
                </a:tc>
              </a:tr>
              <a:tr h="566928">
                <a:tc>
                  <a:txBody>
                    <a:bodyPr wrap="square"/>
                    <a:lstStyle/>
                    <a:p>
                      <a:r>
                        <a:rPr sz="1500" b="0">
                          <a:solidFill>
                            <a:srgbClr val="E2E8F0"/>
                          </a:solidFill>
                        </a:rPr>
                        <a:t>Transformer ranking</a:t>
                      </a:r>
                    </a:p>
                  </a:txBody>
                  <a:tcPr marL="73152" marR="73152" anchor="ctr">
                    <a:solidFill>
                      <a:srgbClr val="143D2E"/>
                    </a:solidFill>
                  </a:tcPr>
                </a:tc>
                <a:tc>
                  <a:txBody>
                    <a:bodyPr wrap="square"/>
                    <a:lstStyle/>
                    <a:p>
                      <a:r>
                        <a:rPr sz="1500" b="0">
                          <a:solidFill>
                            <a:srgbClr val="E2E8F0"/>
                          </a:solidFill>
                        </a:rPr>
                        <a:t>Score every legal candidate, play the best</a:t>
                      </a:r>
                    </a:p>
                  </a:txBody>
                  <a:tcPr marL="73152" marR="73152" anchor="ctr">
                    <a:solidFill>
                      <a:srgbClr val="143D2E"/>
                    </a:solidFill>
                  </a:tcPr>
                </a:tc>
                <a:tc>
                  <a:txBody>
                    <a:bodyPr wrap="square"/>
                    <a:lstStyle/>
                    <a:p>
                      <a:r>
                        <a:rPr sz="1500" b="0">
                          <a:solidFill>
                            <a:srgbClr val="E2E8F0"/>
                          </a:solidFill>
                        </a:rPr>
                        <a:t>157 (move cap)</a:t>
                      </a:r>
                    </a:p>
                  </a:txBody>
                  <a:tcPr marL="73152" marR="73152" anchor="ctr">
                    <a:solidFill>
                      <a:srgbClr val="143D2E"/>
                    </a:solidFill>
                  </a:tcPr>
                </a:tc>
                <a:tc>
                  <a:txBody>
                    <a:bodyPr wrap="square"/>
                    <a:lstStyle/>
                    <a:p>
                      <a:r>
                        <a:rPr sz="1500" b="1">
                          <a:solidFill>
                            <a:srgbClr val="67E8F9"/>
                          </a:solidFill>
                        </a:rPr>
                        <a:t>Solves the task</a:t>
                      </a:r>
                    </a:p>
                  </a:txBody>
                  <a:tcPr marL="73152" marR="73152" anchor="ctr">
                    <a:solidFill>
                      <a:srgbClr val="143D2E"/>
                    </a:solidFill>
                  </a:tcPr>
                </a:tc>
              </a:tr>
            </a:tbl>
          </a:graphicData>
        </a:graphic>
      </p:graphicFrame>
      <p:sp>
        <p:nvSpPr>
          <p:cNvPr id="6" name="Rounded Rectangle 5"/>
          <p:cNvSpPr/>
          <p:nvPr/>
        </p:nvSpPr>
        <p:spPr>
          <a:xfrm>
            <a:off x="502920" y="4754880"/>
            <a:ext cx="11155680" cy="1097280"/>
          </a:xfrm>
          <a:prstGeom prst="roundRect">
            <a:avLst>
              <a:gd name="adj" fmla="val 12000"/>
            </a:avLst>
          </a:prstGeom>
          <a:solidFill>
            <a:srgbClr val="131C2E"/>
          </a:solidFill>
          <a:ln w="25400">
            <a:solidFill>
              <a:srgbClr val="67E8F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900" b="0">
                <a:solidFill>
                  <a:srgbClr val="E2E8F0"/>
                </a:solidFill>
              </a:rPr>
              <a:t>Thesis: </a:t>
            </a:r>
            <a:r>
              <a:rPr sz="1900" b="1">
                <a:solidFill>
                  <a:srgbClr val="67E8F9"/>
                </a:solidFill>
              </a:rPr>
              <a:t>framing beats capacity</a:t>
            </a:r>
            <a:r>
              <a:rPr sz="1900" b="0">
                <a:solidFill>
                  <a:srgbClr val="E2E8F0"/>
                </a:solidFill>
              </a:rPr>
              <a:t>. Reframing play as </a:t>
            </a:r>
            <a:r>
              <a:rPr sz="1900" b="1">
                <a:solidFill>
                  <a:srgbClr val="67E8F9"/>
                </a:solidFill>
              </a:rPr>
              <a:t>ranking legal candidates</a:t>
            </a:r>
            <a:r>
              <a:rPr sz="1900" b="0">
                <a:solidFill>
                  <a:srgbClr val="E2E8F0"/>
                </a:solidFill>
              </a:rPr>
              <a:t> instead of </a:t>
            </a:r>
            <a:r>
              <a:rPr sz="1900" b="1">
                <a:solidFill>
                  <a:srgbClr val="67E8F9"/>
                </a:solidFill>
              </a:rPr>
              <a:t>generating a move</a:t>
            </a:r>
            <a:r>
              <a:rPr sz="1900" b="0">
                <a:solidFill>
                  <a:srgbClr val="E2E8F0"/>
                </a:solidFill>
              </a:rPr>
              <a:t> is what moved the needle, not a bigger network.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Agenda &amp; how to use this deck</a:t>
            </a:r>
          </a:p>
        </p:txBody>
      </p:sp>
      <p:sp>
        <p:nvSpPr>
          <p:cNvPr id="4" name="TextBox 3"/>
          <p:cNvSpPr txBox="1"/>
          <p:nvPr/>
        </p:nvSpPr>
        <p:spPr>
          <a:xfrm>
            <a:off x="502920" y="1463040"/>
            <a:ext cx="5760720" cy="5029200"/>
          </a:xfrm>
          <a:prstGeom prst="rect">
            <a:avLst/>
          </a:prstGeom>
          <a:noFill/>
        </p:spPr>
        <p:txBody>
          <a:bodyPr wrap="square">
            <a:spAutoFit/>
          </a:bodyPr>
          <a:lstStyle/>
          <a:p>
            <a:pPr>
              <a:spcAft>
                <a:spcPts val="1000"/>
              </a:spcAft>
            </a:pPr>
            <a:r>
              <a:rPr sz="2000" b="0">
                <a:solidFill>
                  <a:srgbClr val="E2E8F0"/>
                </a:solidFill>
              </a:rPr>
              <a:t>•  </a:t>
            </a:r>
            <a:r>
              <a:rPr sz="2000" b="1">
                <a:solidFill>
                  <a:srgbClr val="67E8F9"/>
                </a:solidFill>
              </a:rPr>
              <a:t>Foundations</a:t>
            </a:r>
            <a:r>
              <a:rPr sz="2000" b="0">
                <a:solidFill>
                  <a:srgbClr val="E2E8F0"/>
                </a:solidFill>
              </a:rPr>
              <a:t>: the game, the API, the reachability engine</a:t>
            </a:r>
          </a:p>
          <a:p>
            <a:pPr>
              <a:spcAft>
                <a:spcPts val="1000"/>
              </a:spcAft>
            </a:pPr>
            <a:r>
              <a:rPr sz="2000" b="0">
                <a:solidFill>
                  <a:srgbClr val="E2E8F0"/>
                </a:solidFill>
              </a:rPr>
              <a:t>•  </a:t>
            </a:r>
            <a:r>
              <a:rPr sz="2000" b="1">
                <a:solidFill>
                  <a:srgbClr val="67E8F9"/>
                </a:solidFill>
              </a:rPr>
              <a:t>The teacher</a:t>
            </a:r>
            <a:r>
              <a:rPr sz="2000" b="0">
                <a:solidFill>
                  <a:srgbClr val="E2E8F0"/>
                </a:solidFill>
              </a:rPr>
              <a:t>: heuristic player &amp; clean training data</a:t>
            </a:r>
          </a:p>
          <a:p>
            <a:pPr>
              <a:spcAft>
                <a:spcPts val="1000"/>
              </a:spcAft>
            </a:pPr>
            <a:r>
              <a:rPr sz="2000" b="0">
                <a:solidFill>
                  <a:srgbClr val="E2E8F0"/>
                </a:solidFill>
              </a:rPr>
              <a:t>•  </a:t>
            </a:r>
            <a:r>
              <a:rPr sz="2000" b="1">
                <a:solidFill>
                  <a:srgbClr val="67E8F9"/>
                </a:solidFill>
              </a:rPr>
              <a:t>Solver 1: VAE v2</a:t>
            </a:r>
            <a:r>
              <a:rPr sz="2000" b="0">
                <a:solidFill>
                  <a:srgbClr val="E2E8F0"/>
                </a:solidFill>
              </a:rPr>
              <a:t> → notebook 01</a:t>
            </a:r>
          </a:p>
          <a:p>
            <a:pPr>
              <a:spcAft>
                <a:spcPts val="1000"/>
              </a:spcAft>
            </a:pPr>
            <a:r>
              <a:rPr sz="2000" b="0">
                <a:solidFill>
                  <a:srgbClr val="E2E8F0"/>
                </a:solidFill>
              </a:rPr>
              <a:t>•  </a:t>
            </a:r>
            <a:r>
              <a:rPr sz="2000" b="1">
                <a:solidFill>
                  <a:srgbClr val="67E8F9"/>
                </a:solidFill>
              </a:rPr>
              <a:t>Solver 2: GAN</a:t>
            </a:r>
            <a:r>
              <a:rPr sz="2000" b="0">
                <a:solidFill>
                  <a:srgbClr val="E2E8F0"/>
                </a:solidFill>
              </a:rPr>
              <a:t> → notebook 02</a:t>
            </a:r>
          </a:p>
          <a:p>
            <a:pPr>
              <a:spcAft>
                <a:spcPts val="1000"/>
              </a:spcAft>
            </a:pPr>
            <a:r>
              <a:rPr sz="2000" b="0">
                <a:solidFill>
                  <a:srgbClr val="E2E8F0"/>
                </a:solidFill>
              </a:rPr>
              <a:t>•  </a:t>
            </a:r>
            <a:r>
              <a:rPr sz="2000" b="1">
                <a:solidFill>
                  <a:srgbClr val="67E8F9"/>
                </a:solidFill>
              </a:rPr>
              <a:t>Solver 3: Transformer ranker</a:t>
            </a:r>
            <a:r>
              <a:rPr sz="2000" b="0">
                <a:solidFill>
                  <a:srgbClr val="E2E8F0"/>
                </a:solidFill>
              </a:rPr>
              <a:t> → notebook 03</a:t>
            </a:r>
          </a:p>
          <a:p>
            <a:pPr>
              <a:spcAft>
                <a:spcPts val="1000"/>
              </a:spcAft>
            </a:pPr>
            <a:r>
              <a:rPr sz="2000" b="0">
                <a:solidFill>
                  <a:srgbClr val="E2E8F0"/>
                </a:solidFill>
              </a:rPr>
              <a:t>•  </a:t>
            </a:r>
            <a:r>
              <a:rPr sz="2000" b="1">
                <a:solidFill>
                  <a:srgbClr val="67E8F9"/>
                </a:solidFill>
              </a:rPr>
              <a:t>Postscript</a:t>
            </a:r>
            <a:r>
              <a:rPr sz="2000" b="0">
                <a:solidFill>
                  <a:srgbClr val="E2E8F0"/>
                </a:solidFill>
              </a:rPr>
              <a:t>: distillation &amp; agent placement</a:t>
            </a:r>
          </a:p>
          <a:p>
            <a:pPr>
              <a:spcAft>
                <a:spcPts val="1000"/>
              </a:spcAft>
            </a:pPr>
            <a:r>
              <a:rPr sz="2000" b="0">
                <a:solidFill>
                  <a:srgbClr val="E2E8F0"/>
                </a:solidFill>
              </a:rPr>
              <a:t>•  </a:t>
            </a:r>
            <a:r>
              <a:rPr sz="2000" b="1">
                <a:solidFill>
                  <a:srgbClr val="67E8F9"/>
                </a:solidFill>
              </a:rPr>
              <a:t>Head-to-head, conclusions, next steps</a:t>
            </a:r>
          </a:p>
        </p:txBody>
      </p:sp>
      <p:sp>
        <p:nvSpPr>
          <p:cNvPr id="5" name="Rounded Rectangle 4"/>
          <p:cNvSpPr/>
          <p:nvPr/>
        </p:nvSpPr>
        <p:spPr>
          <a:xfrm>
            <a:off x="6583680" y="1463040"/>
            <a:ext cx="5120640" cy="310896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300">
                <a:solidFill>
                  <a:srgbClr val="E2E8F0"/>
                </a:solidFill>
                <a:latin typeface="Consolas"/>
              </a:rPr>
              <a:t># one-time setup (package root)</a:t>
            </a:r>
          </a:p>
          <a:p>
            <a:pPr algn="l"/>
            <a:r>
              <a:rPr sz="1300">
                <a:solidFill>
                  <a:srgbClr val="E2E8F0"/>
                </a:solidFill>
                <a:latin typeface="Consolas"/>
              </a:rPr>
              <a:t>uv sync --group notebooks</a:t>
            </a:r>
          </a:p>
          <a:p>
            <a:pPr algn="l"/>
            <a:r>
              <a:rPr sz="1300">
                <a:solidFill>
                  <a:srgbClr val="E2E8F0"/>
                </a:solidFill>
                <a:latin typeface="Consolas"/>
              </a:rPr>
              <a:t> </a:t>
            </a:r>
          </a:p>
          <a:p>
            <a:pPr algn="l"/>
            <a:r>
              <a:rPr sz="1300">
                <a:solidFill>
                  <a:srgbClr val="E2E8F0"/>
                </a:solidFill>
                <a:latin typeface="Consolas"/>
              </a:rPr>
              <a:t>notebooks/</a:t>
            </a:r>
          </a:p>
          <a:p>
            <a:pPr algn="l"/>
            <a:r>
              <a:rPr sz="1300">
                <a:solidFill>
                  <a:srgbClr val="E2E8F0"/>
                </a:solidFill>
                <a:latin typeface="Consolas"/>
              </a:rPr>
              <a:t>  01_vae_training_and_solver.ipynb</a:t>
            </a:r>
          </a:p>
          <a:p>
            <a:pPr algn="l"/>
            <a:r>
              <a:rPr sz="1300">
                <a:solidFill>
                  <a:srgbClr val="E2E8F0"/>
                </a:solidFill>
                <a:latin typeface="Consolas"/>
              </a:rPr>
              <a:t>  02_gan_training_and_solver.ipynb</a:t>
            </a:r>
          </a:p>
          <a:p>
            <a:pPr algn="l"/>
            <a:r>
              <a:rPr sz="1300">
                <a:solidFill>
                  <a:srgbClr val="E2E8F0"/>
                </a:solidFill>
                <a:latin typeface="Consolas"/>
              </a:rPr>
              <a:t>  03_transformer_training_and_solver.ipynb</a:t>
            </a:r>
          </a:p>
          <a:p>
            <a:pPr algn="l"/>
            <a:r>
              <a:rPr sz="1300">
                <a:solidFill>
                  <a:srgbClr val="E2E8F0"/>
                </a:solidFill>
                <a:latin typeface="Consolas"/>
              </a:rPr>
              <a:t>  nb_setup.py   # paths, scenarios, drawing</a:t>
            </a:r>
          </a:p>
        </p:txBody>
      </p:sp>
      <p:sp>
        <p:nvSpPr>
          <p:cNvPr id="6" name="TextBox 5"/>
          <p:cNvSpPr txBox="1"/>
          <p:nvPr/>
        </p:nvSpPr>
        <p:spPr>
          <a:xfrm>
            <a:off x="6583680" y="4754880"/>
            <a:ext cx="5120640" cy="1828800"/>
          </a:xfrm>
          <a:prstGeom prst="rect">
            <a:avLst/>
          </a:prstGeom>
          <a:noFill/>
        </p:spPr>
        <p:txBody>
          <a:bodyPr wrap="square">
            <a:spAutoFit/>
          </a:bodyPr>
          <a:lstStyle/>
          <a:p>
            <a:pPr>
              <a:spcAft>
                <a:spcPts val="600"/>
              </a:spcAft>
            </a:pPr>
            <a:r>
              <a:rPr sz="1500" b="0">
                <a:solidFill>
                  <a:srgbClr val="E2E8F0"/>
                </a:solidFill>
              </a:rPr>
              <a:t>•  Notebooks load </a:t>
            </a:r>
            <a:r>
              <a:rPr sz="1500" b="1">
                <a:solidFill>
                  <a:srgbClr val="67E8F9"/>
                </a:solidFill>
              </a:rPr>
              <a:t>shipped weights</a:t>
            </a:r>
            <a:r>
              <a:rPr sz="1500" b="0">
                <a:solidFill>
                  <a:srgbClr val="E2E8F0"/>
                </a:solidFill>
              </a:rPr>
              <a:t>; training cells are off by default (</a:t>
            </a:r>
            <a:r>
              <a:rPr sz="1400" b="0">
                <a:solidFill>
                  <a:srgbClr val="E2E8F0"/>
                </a:solidFill>
                <a:latin typeface="Consolas"/>
              </a:rPr>
              <a:t>RUN_SHORT_TRAINING = False</a:t>
            </a:r>
            <a:r>
              <a:rPr sz="1500" b="0">
                <a:solidFill>
                  <a:srgbClr val="E2E8F0"/>
                </a:solidFill>
              </a:rPr>
              <a:t>)</a:t>
            </a:r>
          </a:p>
          <a:p>
            <a:pPr>
              <a:spcAft>
                <a:spcPts val="600"/>
              </a:spcAft>
            </a:pPr>
            <a:r>
              <a:rPr sz="1500" b="0">
                <a:solidFill>
                  <a:srgbClr val="E2E8F0"/>
                </a:solidFill>
              </a:rPr>
              <a:t>•  Each has a </a:t>
            </a:r>
            <a:r>
              <a:rPr sz="1500" b="1">
                <a:solidFill>
                  <a:srgbClr val="67E8F9"/>
                </a:solidFill>
              </a:rPr>
              <a:t>lab cell</a:t>
            </a:r>
            <a:r>
              <a:rPr sz="1500" b="0">
                <a:solidFill>
                  <a:srgbClr val="E2E8F0"/>
                </a:solidFill>
              </a:rPr>
              <a:t>: set </a:t>
            </a:r>
            <a:r>
              <a:rPr sz="1400" b="0">
                <a:solidFill>
                  <a:srgbClr val="E2E8F0"/>
                </a:solidFill>
                <a:latin typeface="Consolas"/>
              </a:rPr>
              <a:t>PIECE</a:t>
            </a:r>
            <a:r>
              <a:rPr sz="1500" b="0">
                <a:solidFill>
                  <a:srgbClr val="E2E8F0"/>
                </a:solidFill>
              </a:rPr>
              <a:t> and </a:t>
            </a:r>
            <a:r>
              <a:rPr sz="1400" b="0">
                <a:solidFill>
                  <a:srgbClr val="E2E8F0"/>
                </a:solidFill>
                <a:latin typeface="Consolas"/>
              </a:rPr>
              <a:t>SCENARIO</a:t>
            </a:r>
            <a:r>
              <a:rPr sz="1500" b="0">
                <a:solidFill>
                  <a:srgbClr val="E2E8F0"/>
                </a:solidFill>
              </a:rPr>
              <a:t>, re-run below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The problem</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Can a model learn to clear lines purely from heuristic demonstrations?</a:t>
            </a:r>
          </a:p>
        </p:txBody>
      </p:sp>
      <p:sp>
        <p:nvSpPr>
          <p:cNvPr id="5" name="TextBox 4"/>
          <p:cNvSpPr txBox="1"/>
          <p:nvPr/>
        </p:nvSpPr>
        <p:spPr>
          <a:xfrm>
            <a:off x="502920" y="1463040"/>
            <a:ext cx="6949440" cy="5029200"/>
          </a:xfrm>
          <a:prstGeom prst="rect">
            <a:avLst/>
          </a:prstGeom>
          <a:noFill/>
        </p:spPr>
        <p:txBody>
          <a:bodyPr wrap="square">
            <a:spAutoFit/>
          </a:bodyPr>
          <a:lstStyle/>
          <a:p>
            <a:pPr>
              <a:spcAft>
                <a:spcPts val="1000"/>
              </a:spcAft>
            </a:pPr>
            <a:r>
              <a:rPr sz="1900" b="0">
                <a:solidFill>
                  <a:srgbClr val="E2E8F0"/>
                </a:solidFill>
              </a:rPr>
              <a:t>•  20 × 10 grid, pieces </a:t>
            </a:r>
            <a:r>
              <a:rPr sz="1900" b="1">
                <a:solidFill>
                  <a:srgbClr val="67E8F9"/>
                </a:solidFill>
              </a:rPr>
              <a:t>I O T S Z J L</a:t>
            </a:r>
            <a:r>
              <a:rPr sz="1900" b="0">
                <a:solidFill>
                  <a:srgbClr val="E2E8F0"/>
                </a:solidFill>
              </a:rPr>
              <a:t>, goal: clear lines without topping out</a:t>
            </a:r>
          </a:p>
          <a:p>
            <a:pPr>
              <a:spcAft>
                <a:spcPts val="1000"/>
              </a:spcAft>
            </a:pPr>
            <a:r>
              <a:rPr sz="1900" b="0">
                <a:solidFill>
                  <a:srgbClr val="E2E8F0"/>
                </a:solidFill>
              </a:rPr>
              <a:t>•  AI action = final pose </a:t>
            </a:r>
            <a:r>
              <a:rPr sz="1900" b="1">
                <a:solidFill>
                  <a:srgbClr val="67E8F9"/>
                </a:solidFill>
              </a:rPr>
              <a:t>(row, col, rotation)</a:t>
            </a:r>
            <a:r>
              <a:rPr sz="1900" b="0">
                <a:solidFill>
                  <a:srgbClr val="E2E8F0"/>
                </a:solidFill>
              </a:rPr>
              <a:t>, not a key sequence</a:t>
            </a:r>
          </a:p>
          <a:p>
            <a:pPr lvl="1">
              <a:spcAft>
                <a:spcPts val="1000"/>
              </a:spcAft>
            </a:pPr>
            <a:r>
              <a:rPr sz="1700" b="0">
                <a:solidFill>
                  <a:srgbClr val="94A3B8"/>
                </a:solidFill>
              </a:rPr>
              <a:t>–  Engine enumerates the legal poses; a solver picks one</a:t>
            </a:r>
          </a:p>
          <a:p>
            <a:pPr>
              <a:spcAft>
                <a:spcPts val="1000"/>
              </a:spcAft>
            </a:pPr>
            <a:r>
              <a:rPr sz="1900" b="0">
                <a:solidFill>
                  <a:srgbClr val="E2E8F0"/>
                </a:solidFill>
              </a:rPr>
              <a:t>•  Supervision comes only from a </a:t>
            </a:r>
            <a:r>
              <a:rPr sz="1900" b="1">
                <a:solidFill>
                  <a:srgbClr val="67E8F9"/>
                </a:solidFill>
              </a:rPr>
              <a:t>hand-written heuristic player</a:t>
            </a:r>
            <a:r>
              <a:rPr sz="1900" b="0">
                <a:solidFill>
                  <a:srgbClr val="E2E8F0"/>
                </a:solidFill>
              </a:rPr>
              <a:t> (~18 lines/game median)</a:t>
            </a:r>
          </a:p>
          <a:p>
            <a:pPr>
              <a:spcAft>
                <a:spcPts val="1000"/>
              </a:spcAft>
            </a:pPr>
            <a:r>
              <a:rPr sz="1900" b="0">
                <a:solidFill>
                  <a:srgbClr val="E2E8F0"/>
                </a:solidFill>
              </a:rPr>
              <a:t>•  Question for each model: does it learn </a:t>
            </a:r>
            <a:r>
              <a:rPr sz="1900" b="1">
                <a:solidFill>
                  <a:srgbClr val="67E8F9"/>
                </a:solidFill>
              </a:rPr>
              <a:t>to imitate</a:t>
            </a:r>
            <a:r>
              <a:rPr sz="1900" b="0">
                <a:solidFill>
                  <a:srgbClr val="E2E8F0"/>
                </a:solidFill>
              </a:rPr>
              <a:t> or </a:t>
            </a:r>
            <a:r>
              <a:rPr sz="1900" b="1">
                <a:solidFill>
                  <a:srgbClr val="67E8F9"/>
                </a:solidFill>
              </a:rPr>
              <a:t>to evaluate</a:t>
            </a:r>
            <a:r>
              <a:rPr sz="1900" b="0">
                <a:solidFill>
                  <a:srgbClr val="E2E8F0"/>
                </a:solidFill>
              </a:rPr>
              <a:t>?</a:t>
            </a:r>
          </a:p>
          <a:p>
            <a:pPr lvl="1">
              <a:spcAft>
                <a:spcPts val="1000"/>
              </a:spcAft>
            </a:pPr>
            <a:r>
              <a:rPr sz="1700" b="0">
                <a:solidFill>
                  <a:srgbClr val="94A3B8"/>
                </a:solidFill>
              </a:rPr>
              <a:t>–  Imitation can look perfect on held-out data and still fail in play</a:t>
            </a:r>
          </a:p>
        </p:txBody>
      </p:sp>
      <p:pic>
        <p:nvPicPr>
          <p:cNvPr id="6" name="Picture 5" descr="real_game.png"/>
          <p:cNvPicPr>
            <a:picLocks noChangeAspect="1"/>
          </p:cNvPicPr>
          <p:nvPr/>
        </p:nvPicPr>
        <p:blipFill>
          <a:blip r:embed="rId3"/>
          <a:stretch>
            <a:fillRect/>
          </a:stretch>
        </p:blipFill>
        <p:spPr>
          <a:xfrm>
            <a:off x="8431193" y="1280160"/>
            <a:ext cx="2797214" cy="53949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System architecture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The API server is authoritative; everything else is a client</a:t>
            </a:r>
          </a:p>
        </p:txBody>
      </p:sp>
      <p:sp>
        <p:nvSpPr>
          <p:cNvPr id="5" name="Rounded Rectangle 4"/>
          <p:cNvSpPr/>
          <p:nvPr/>
        </p:nvSpPr>
        <p:spPr>
          <a:xfrm>
            <a:off x="502920" y="1737360"/>
            <a:ext cx="3291840" cy="1280160"/>
          </a:xfrm>
          <a:prstGeom prst="roundRect">
            <a:avLst>
              <a:gd name="adj" fmla="val 12000"/>
            </a:avLst>
          </a:prstGeom>
          <a:solidFill>
            <a:srgbClr val="131C2E"/>
          </a:solidFill>
          <a:ln w="2540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Heuristic generator</a:t>
            </a:r>
          </a:p>
          <a:p>
            <a:pPr algn="ctr"/>
            <a:r>
              <a:rPr sz="1500" b="0">
                <a:solidFill>
                  <a:srgbClr val="E2E8F0"/>
                </a:solidFill>
              </a:rPr>
              <a:t>heuristic-data-generator.py</a:t>
            </a:r>
          </a:p>
        </p:txBody>
      </p:sp>
      <p:sp>
        <p:nvSpPr>
          <p:cNvPr id="6" name="Right Arrow 5"/>
          <p:cNvSpPr/>
          <p:nvPr/>
        </p:nvSpPr>
        <p:spPr>
          <a:xfrm>
            <a:off x="3840480" y="22402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34840" y="1737360"/>
            <a:ext cx="3291840" cy="1280160"/>
          </a:xfrm>
          <a:prstGeom prst="roundRect">
            <a:avLst>
              <a:gd name="adj" fmla="val 12000"/>
            </a:avLst>
          </a:prstGeom>
          <a:solidFill>
            <a:srgbClr val="131C2E"/>
          </a:solidFill>
          <a:ln w="25400">
            <a:solidFill>
              <a:srgbClr val="67E8F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Game engine + API</a:t>
            </a:r>
          </a:p>
          <a:p>
            <a:pPr algn="ctr"/>
            <a:r>
              <a:rPr sz="1500" b="0">
                <a:solidFill>
                  <a:srgbClr val="E2E8F0"/>
                </a:solidFill>
              </a:rPr>
              <a:t>puzzlegrid/ (FastAPI)</a:t>
            </a:r>
          </a:p>
        </p:txBody>
      </p:sp>
      <p:sp>
        <p:nvSpPr>
          <p:cNvPr id="8" name="Right Arrow 7"/>
          <p:cNvSpPr/>
          <p:nvPr/>
        </p:nvSpPr>
        <p:spPr>
          <a:xfrm>
            <a:off x="7772400" y="22402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66760" y="1737360"/>
            <a:ext cx="3291840" cy="1280160"/>
          </a:xfrm>
          <a:prstGeom prst="roundRect">
            <a:avLst>
              <a:gd name="adj" fmla="val 12000"/>
            </a:avLst>
          </a:prstGeom>
          <a:solidFill>
            <a:srgbClr val="131C2E"/>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Replay clients</a:t>
            </a:r>
          </a:p>
          <a:p>
            <a:pPr algn="ctr"/>
            <a:r>
              <a:rPr sz="1500" b="0">
                <a:solidFill>
                  <a:srgbClr val="E2E8F0"/>
                </a:solidFill>
              </a:rPr>
              <a:t>replay_vae_v2 / replay_gan /</a:t>
            </a:r>
          </a:p>
          <a:p>
            <a:pPr algn="ctr"/>
            <a:r>
              <a:rPr sz="1500" b="0">
                <a:solidFill>
                  <a:srgbClr val="E2E8F0"/>
                </a:solidFill>
              </a:rPr>
              <a:t>replay_transformers</a:t>
            </a:r>
          </a:p>
        </p:txBody>
      </p:sp>
      <p:sp>
        <p:nvSpPr>
          <p:cNvPr id="10" name="Rounded Rectangle 9"/>
          <p:cNvSpPr/>
          <p:nvPr/>
        </p:nvSpPr>
        <p:spPr>
          <a:xfrm>
            <a:off x="502920" y="3657600"/>
            <a:ext cx="3291840" cy="1097280"/>
          </a:xfrm>
          <a:prstGeom prst="roundRect">
            <a:avLst>
              <a:gd name="adj" fmla="val 12000"/>
            </a:avLst>
          </a:prstGeom>
          <a:solidFill>
            <a:srgbClr val="131C2E"/>
          </a:solidFill>
          <a:ln w="2540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JSON game logs</a:t>
            </a:r>
          </a:p>
          <a:p>
            <a:pPr algn="ctr"/>
            <a:r>
              <a:rPr sz="1500" b="0">
                <a:solidFill>
                  <a:srgbClr val="E2E8F0"/>
                </a:solidFill>
              </a:rPr>
              <a:t>training_data_clean/</a:t>
            </a:r>
          </a:p>
        </p:txBody>
      </p:sp>
      <p:sp>
        <p:nvSpPr>
          <p:cNvPr id="11" name="Right Arrow 10"/>
          <p:cNvSpPr/>
          <p:nvPr/>
        </p:nvSpPr>
        <p:spPr>
          <a:xfrm>
            <a:off x="3840480" y="40690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34840" y="3657600"/>
            <a:ext cx="3291840" cy="1097280"/>
          </a:xfrm>
          <a:prstGeom prst="roundRect">
            <a:avLst>
              <a:gd name="adj" fmla="val 12000"/>
            </a:avLst>
          </a:prstGeom>
          <a:solidFill>
            <a:srgbClr val="131C2E"/>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Training</a:t>
            </a:r>
          </a:p>
          <a:p>
            <a:pPr algn="ctr"/>
            <a:r>
              <a:rPr sz="1500" b="0">
                <a:solidFill>
                  <a:srgbClr val="E2E8F0"/>
                </a:solidFill>
              </a:rPr>
              <a:t>VAE · GAN · Transformer</a:t>
            </a:r>
          </a:p>
        </p:txBody>
      </p:sp>
      <p:sp>
        <p:nvSpPr>
          <p:cNvPr id="13" name="Right Arrow 12"/>
          <p:cNvSpPr/>
          <p:nvPr/>
        </p:nvSpPr>
        <p:spPr>
          <a:xfrm>
            <a:off x="7772400" y="40690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66760" y="3657600"/>
            <a:ext cx="3291840" cy="1097280"/>
          </a:xfrm>
          <a:prstGeom prst="roundRect">
            <a:avLst>
              <a:gd name="adj" fmla="val 12000"/>
            </a:avLst>
          </a:prstGeom>
          <a:solidFill>
            <a:srgbClr val="131C2E"/>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Shipped weights</a:t>
            </a:r>
          </a:p>
          <a:p>
            <a:pPr algn="ctr"/>
            <a:r>
              <a:rPr sz="1500" b="0">
                <a:solidFill>
                  <a:srgbClr val="E2E8F0"/>
                </a:solidFill>
              </a:rPr>
              <a:t>models/…</a:t>
            </a:r>
          </a:p>
        </p:txBody>
      </p:sp>
      <p:sp>
        <p:nvSpPr>
          <p:cNvPr id="15" name="Rounded Rectangle 14"/>
          <p:cNvSpPr/>
          <p:nvPr/>
        </p:nvSpPr>
        <p:spPr>
          <a:xfrm>
            <a:off x="502920" y="5120640"/>
            <a:ext cx="11155680" cy="137160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300">
                <a:solidFill>
                  <a:srgbClr val="E2E8F0"/>
                </a:solidFill>
                <a:latin typeface="Consolas"/>
              </a:rPr>
              <a:t>POST /games                            create game (allowed pieces)</a:t>
            </a:r>
          </a:p>
          <a:p>
            <a:pPr algn="l"/>
            <a:r>
              <a:rPr sz="1300">
                <a:solidFill>
                  <a:srgbClr val="E2E8F0"/>
                </a:solidFill>
                <a:latin typeface="Consolas"/>
              </a:rPr>
              <a:t>GET  /games/{id}                       board + current piece</a:t>
            </a:r>
          </a:p>
          <a:p>
            <a:pPr algn="l"/>
            <a:r>
              <a:rPr sz="1300">
                <a:solidFill>
                  <a:srgbClr val="E2E8F0"/>
                </a:solidFill>
                <a:latin typeface="Consolas"/>
              </a:rPr>
              <a:t>GET  /games/{id}/potential-placements  legal reachable poses (BFS + filter_low_stack)</a:t>
            </a:r>
          </a:p>
          <a:p>
            <a:pPr algn="l"/>
            <a:r>
              <a:rPr sz="1300">
                <a:solidFill>
                  <a:srgbClr val="E2E8F0"/>
                </a:solidFill>
                <a:latin typeface="Consolas"/>
              </a:rPr>
              <a:t>POST /games/{id}/place                 final (row, col, rotation)  ← the RL / AI interface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Foundation: a correct reachability engine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puzzlegrid/placement.py: the single source of truth</a:t>
            </a:r>
          </a:p>
        </p:txBody>
      </p:sp>
      <p:sp>
        <p:nvSpPr>
          <p:cNvPr id="5" name="TextBox 4"/>
          <p:cNvSpPr txBox="1"/>
          <p:nvPr/>
        </p:nvSpPr>
        <p:spPr>
          <a:xfrm>
            <a:off x="502920" y="1463040"/>
            <a:ext cx="6583680" cy="5120640"/>
          </a:xfrm>
          <a:prstGeom prst="rect">
            <a:avLst/>
          </a:prstGeom>
          <a:noFill/>
        </p:spPr>
        <p:txBody>
          <a:bodyPr wrap="square">
            <a:spAutoFit/>
          </a:bodyPr>
          <a:lstStyle/>
          <a:p>
            <a:pPr>
              <a:spcAft>
                <a:spcPts val="700"/>
              </a:spcAft>
            </a:pPr>
            <a:r>
              <a:rPr sz="1700" b="0">
                <a:solidFill>
                  <a:srgbClr val="E2E8F0"/>
                </a:solidFill>
              </a:rPr>
              <a:t>•  </a:t>
            </a:r>
            <a:r>
              <a:rPr sz="1700" b="1">
                <a:solidFill>
                  <a:srgbClr val="67E8F9"/>
                </a:solidFill>
              </a:rPr>
              <a:t>Bug</a:t>
            </a:r>
            <a:r>
              <a:rPr sz="1700" b="0">
                <a:solidFill>
                  <a:srgbClr val="E2E8F0"/>
                </a:solidFill>
              </a:rPr>
              <a:t>: old engine only checked that the column corridor above a target was empty</a:t>
            </a:r>
          </a:p>
          <a:p>
            <a:pPr lvl="1">
              <a:spcAft>
                <a:spcPts val="700"/>
              </a:spcAft>
            </a:pPr>
            <a:r>
              <a:rPr sz="1500" b="0">
                <a:solidFill>
                  <a:srgbClr val="94A3B8"/>
                </a:solidFill>
              </a:rPr>
              <a:t>–  Offered placements inside enclosed pockets: pieces "teleported" under overhangs</a:t>
            </a:r>
          </a:p>
          <a:p>
            <a:pPr lvl="1">
              <a:spcAft>
                <a:spcPts val="700"/>
              </a:spcAft>
            </a:pPr>
            <a:r>
              <a:rPr sz="1500" b="0">
                <a:solidFill>
                  <a:srgbClr val="94A3B8"/>
                </a:solidFill>
              </a:rPr>
              <a:t>–  Polluted training data with physically impossible moves</a:t>
            </a:r>
          </a:p>
          <a:p>
            <a:pPr>
              <a:spcAft>
                <a:spcPts val="700"/>
              </a:spcAft>
            </a:pPr>
            <a:r>
              <a:rPr sz="1700" b="0">
                <a:solidFill>
                  <a:srgbClr val="E2E8F0"/>
                </a:solidFill>
              </a:rPr>
              <a:t>•  </a:t>
            </a:r>
            <a:r>
              <a:rPr sz="1700" b="1">
                <a:solidFill>
                  <a:srgbClr val="67E8F9"/>
                </a:solidFill>
              </a:rPr>
              <a:t>Fix</a:t>
            </a:r>
            <a:r>
              <a:rPr sz="1700" b="0">
                <a:solidFill>
                  <a:srgbClr val="E2E8F0"/>
                </a:solidFill>
              </a:rPr>
              <a:t>: BFS over piece states from spawn</a:t>
            </a:r>
          </a:p>
          <a:p>
            <a:pPr lvl="1">
              <a:spcAft>
                <a:spcPts val="700"/>
              </a:spcAft>
            </a:pPr>
            <a:r>
              <a:rPr sz="1500" b="0">
                <a:solidFill>
                  <a:srgbClr val="94A3B8"/>
                </a:solidFill>
              </a:rPr>
              <a:t>–  Moves: left, right, clockwise rotate, soft-drop (mirrors game.py exactly)</a:t>
            </a:r>
          </a:p>
          <a:p>
            <a:pPr lvl="1">
              <a:spcAft>
                <a:spcPts val="700"/>
              </a:spcAft>
            </a:pPr>
            <a:r>
              <a:rPr sz="1500" b="0">
                <a:solidFill>
                  <a:srgbClr val="94A3B8"/>
                </a:solidFill>
              </a:rPr>
              <a:t>–  A placement is legal </a:t>
            </a:r>
            <a:r>
              <a:rPr sz="1500" b="1">
                <a:solidFill>
                  <a:srgbClr val="67E8F9"/>
                </a:solidFill>
              </a:rPr>
              <a:t>iff reachable AND resting</a:t>
            </a:r>
          </a:p>
          <a:p>
            <a:pPr>
              <a:spcAft>
                <a:spcPts val="700"/>
              </a:spcAft>
            </a:pPr>
            <a:r>
              <a:rPr sz="1700" b="0">
                <a:solidFill>
                  <a:srgbClr val="E2E8F0"/>
                </a:solidFill>
              </a:rPr>
              <a:t>•  Used by the API, the generator, every solver, and the notebooks</a:t>
            </a:r>
          </a:p>
          <a:p>
            <a:pPr>
              <a:spcAft>
                <a:spcPts val="700"/>
              </a:spcAft>
            </a:pPr>
            <a:r>
              <a:rPr sz="1700" b="0">
                <a:solidFill>
                  <a:srgbClr val="E2E8F0"/>
                </a:solidFill>
              </a:rPr>
              <a:t>•  Covered by </a:t>
            </a:r>
            <a:r>
              <a:rPr sz="1600" b="0">
                <a:solidFill>
                  <a:srgbClr val="E2E8F0"/>
                </a:solidFill>
                <a:latin typeface="Consolas"/>
              </a:rPr>
              <a:t>test_placement.py</a:t>
            </a:r>
            <a:r>
              <a:rPr sz="1700" b="0">
                <a:solidFill>
                  <a:srgbClr val="E2E8F0"/>
                </a:solidFill>
              </a:rPr>
              <a:t> (enclosed pocket, slide-under-overhang, rotate-to-fit)</a:t>
            </a:r>
          </a:p>
          <a:p>
            <a:pPr>
              <a:spcAft>
                <a:spcPts val="700"/>
              </a:spcAft>
            </a:pPr>
            <a:r>
              <a:rPr sz="1700" b="0">
                <a:solidFill>
                  <a:srgbClr val="E2E8F0"/>
                </a:solidFill>
              </a:rPr>
              <a:t>•  </a:t>
            </a:r>
            <a:r>
              <a:rPr sz="1600" b="0">
                <a:solidFill>
                  <a:srgbClr val="E2E8F0"/>
                </a:solidFill>
                <a:latin typeface="Consolas"/>
              </a:rPr>
              <a:t>filter_low_stack</a:t>
            </a:r>
            <a:r>
              <a:rPr sz="1700" b="0">
                <a:solidFill>
                  <a:srgbClr val="E2E8F0"/>
                </a:solidFill>
              </a:rPr>
              <a:t> is a separate opt-in policy, </a:t>
            </a:r>
            <a:r>
              <a:rPr sz="1700" b="1">
                <a:solidFill>
                  <a:srgbClr val="67E8F9"/>
                </a:solidFill>
              </a:rPr>
              <a:t>not</a:t>
            </a:r>
            <a:r>
              <a:rPr sz="1700" b="0">
                <a:solidFill>
                  <a:srgbClr val="E2E8F0"/>
                </a:solidFill>
              </a:rPr>
              <a:t> reachability</a:t>
            </a:r>
          </a:p>
        </p:txBody>
      </p:sp>
      <p:pic>
        <p:nvPicPr>
          <p:cNvPr id="6" name="Picture 5" descr="reachability.png"/>
          <p:cNvPicPr>
            <a:picLocks noChangeAspect="1"/>
          </p:cNvPicPr>
          <p:nvPr/>
        </p:nvPicPr>
        <p:blipFill>
          <a:blip r:embed="rId3"/>
          <a:stretch>
            <a:fillRect/>
          </a:stretch>
        </p:blipFill>
        <p:spPr>
          <a:xfrm>
            <a:off x="7223760" y="1729703"/>
            <a:ext cx="4754880" cy="449587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The teacher: a greedy heuristic player</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Score every legal placement, play the best (no look-ahead, deterministic)</a:t>
            </a:r>
          </a:p>
        </p:txBody>
      </p:sp>
      <p:graphicFrame>
        <p:nvGraphicFramePr>
          <p:cNvPr id="5" name="Table 4"/>
          <p:cNvGraphicFramePr>
            <a:graphicFrameLocks noGrp="1"/>
          </p:cNvGraphicFramePr>
          <p:nvPr/>
        </p:nvGraphicFramePr>
        <p:xfrm>
          <a:off x="502920" y="1463040"/>
          <a:ext cx="7315200" cy="4114800"/>
        </p:xfrm>
        <a:graphic>
          <a:graphicData uri="http://schemas.openxmlformats.org/drawingml/2006/table">
            <a:tbl>
              <a:tblPr firstRow="1" bandRow="1">
                <a:tableStyleId>{5C22544A-7EE6-4342-B048-85BDC9FD1C3A}</a:tableStyleId>
              </a:tblPr>
              <a:tblGrid>
                <a:gridCol w="2377440"/>
                <a:gridCol w="4937760"/>
              </a:tblGrid>
              <a:tr h="457200">
                <a:tc>
                  <a:txBody>
                    <a:bodyPr wrap="square"/>
                    <a:lstStyle/>
                    <a:p>
                      <a:r>
                        <a:rPr sz="1400" b="1">
                          <a:solidFill>
                            <a:srgbClr val="67E8F9"/>
                          </a:solidFill>
                        </a:rPr>
                        <a:t>Term</a:t>
                      </a:r>
                    </a:p>
                  </a:txBody>
                  <a:tcPr marL="73152" marR="73152" anchor="ctr">
                    <a:solidFill>
                      <a:srgbClr val="1E293B"/>
                    </a:solidFill>
                  </a:tcPr>
                </a:tc>
                <a:tc>
                  <a:txBody>
                    <a:bodyPr wrap="square"/>
                    <a:lstStyle/>
                    <a:p>
                      <a:r>
                        <a:rPr sz="1400" b="1">
                          <a:solidFill>
                            <a:srgbClr val="67E8F9"/>
                          </a:solidFill>
                        </a:rPr>
                        <a:t>Weight / effect</a:t>
                      </a:r>
                    </a:p>
                  </a:txBody>
                  <a:tcPr marL="73152" marR="73152" anchor="ctr">
                    <a:solidFill>
                      <a:srgbClr val="1E293B"/>
                    </a:solidFill>
                  </a:tcPr>
                </a:tc>
              </a:tr>
              <a:tr h="457200">
                <a:tc>
                  <a:txBody>
                    <a:bodyPr wrap="square"/>
                    <a:lstStyle/>
                    <a:p>
                      <a:r>
                        <a:rPr sz="1400" b="0">
                          <a:solidFill>
                            <a:srgbClr val="E2E8F0"/>
                          </a:solidFill>
                        </a:rPr>
                        <a:t>Line clears</a:t>
                      </a:r>
                    </a:p>
                  </a:txBody>
                  <a:tcPr marL="73152" marR="73152" anchor="ctr">
                    <a:solidFill>
                      <a:srgbClr val="131C2E"/>
                    </a:solidFill>
                  </a:tcPr>
                </a:tc>
                <a:tc>
                  <a:txBody>
                    <a:bodyPr wrap="square"/>
                    <a:lstStyle/>
                    <a:p>
                      <a:r>
                        <a:rPr sz="1400" b="0">
                          <a:solidFill>
                            <a:srgbClr val="E2E8F0"/>
                          </a:solidFill>
                        </a:rPr>
                        <a:t>+lines × (10000 + height urgency); +50000 for a Tetris</a:t>
                      </a:r>
                    </a:p>
                  </a:txBody>
                  <a:tcPr marL="73152" marR="73152" anchor="ctr">
                    <a:solidFill>
                      <a:srgbClr val="131C2E"/>
                    </a:solidFill>
                  </a:tcPr>
                </a:tc>
              </a:tr>
              <a:tr h="457200">
                <a:tc>
                  <a:txBody>
                    <a:bodyPr wrap="square"/>
                    <a:lstStyle/>
                    <a:p>
                      <a:r>
                        <a:rPr sz="1400" b="0">
                          <a:solidFill>
                            <a:srgbClr val="E2E8F0"/>
                          </a:solidFill>
                        </a:rPr>
                        <a:t>Row-completion shaping</a:t>
                      </a:r>
                    </a:p>
                  </a:txBody>
                  <a:tcPr marL="73152" marR="73152" anchor="ctr">
                    <a:solidFill>
                      <a:srgbClr val="0B1220"/>
                    </a:solidFill>
                  </a:tcPr>
                </a:tc>
                <a:tc>
                  <a:txBody>
                    <a:bodyPr wrap="square"/>
                    <a:lstStyle/>
                    <a:p>
                      <a:r>
                        <a:rPr sz="1400" b="0">
                          <a:solidFill>
                            <a:srgbClr val="E2E8F0"/>
                          </a:solidFill>
                        </a:rPr>
                        <a:t>bonus for rows with 5–8+ filled cells</a:t>
                      </a:r>
                    </a:p>
                  </a:txBody>
                  <a:tcPr marL="73152" marR="73152" anchor="ctr">
                    <a:solidFill>
                      <a:srgbClr val="0B1220"/>
                    </a:solidFill>
                  </a:tcPr>
                </a:tc>
              </a:tr>
              <a:tr h="457200">
                <a:tc>
                  <a:txBody>
                    <a:bodyPr wrap="square"/>
                    <a:lstStyle/>
                    <a:p>
                      <a:r>
                        <a:rPr sz="1400" b="0">
                          <a:solidFill>
                            <a:srgbClr val="E2E8F0"/>
                          </a:solidFill>
                        </a:rPr>
                        <a:t>Holes</a:t>
                      </a:r>
                    </a:p>
                  </a:txBody>
                  <a:tcPr marL="73152" marR="73152" anchor="ctr">
                    <a:solidFill>
                      <a:srgbClr val="131C2E"/>
                    </a:solidFill>
                  </a:tcPr>
                </a:tc>
                <a:tc>
                  <a:txBody>
                    <a:bodyPr wrap="square"/>
                    <a:lstStyle/>
                    <a:p>
                      <a:r>
                        <a:rPr sz="1400" b="0">
                          <a:solidFill>
                            <a:srgbClr val="E2E8F0"/>
                          </a:solidFill>
                        </a:rPr>
                        <a:t>−10 × holes</a:t>
                      </a:r>
                    </a:p>
                  </a:txBody>
                  <a:tcPr marL="73152" marR="73152" anchor="ctr">
                    <a:solidFill>
                      <a:srgbClr val="131C2E"/>
                    </a:solidFill>
                  </a:tcPr>
                </a:tc>
              </a:tr>
              <a:tr h="457200">
                <a:tc>
                  <a:txBody>
                    <a:bodyPr wrap="square"/>
                    <a:lstStyle/>
                    <a:p>
                      <a:r>
                        <a:rPr sz="1400" b="0">
                          <a:solidFill>
                            <a:srgbClr val="E2E8F0"/>
                          </a:solidFill>
                        </a:rPr>
                        <a:t>Aggregate height</a:t>
                      </a:r>
                    </a:p>
                  </a:txBody>
                  <a:tcPr marL="73152" marR="73152" anchor="ctr">
                    <a:solidFill>
                      <a:srgbClr val="0B1220"/>
                    </a:solidFill>
                  </a:tcPr>
                </a:tc>
                <a:tc>
                  <a:txBody>
                    <a:bodyPr wrap="square"/>
                    <a:lstStyle/>
                    <a:p>
                      <a:r>
                        <a:rPr sz="1400" b="0">
                          <a:solidFill>
                            <a:srgbClr val="E2E8F0"/>
                          </a:solidFill>
                        </a:rPr>
                        <a:t>−0.5 × Σ column heights</a:t>
                      </a:r>
                    </a:p>
                  </a:txBody>
                  <a:tcPr marL="73152" marR="73152" anchor="ctr">
                    <a:solidFill>
                      <a:srgbClr val="0B1220"/>
                    </a:solidFill>
                  </a:tcPr>
                </a:tc>
              </a:tr>
              <a:tr h="457200">
                <a:tc>
                  <a:txBody>
                    <a:bodyPr wrap="square"/>
                    <a:lstStyle/>
                    <a:p>
                      <a:r>
                        <a:rPr sz="1400" b="0">
                          <a:solidFill>
                            <a:srgbClr val="E2E8F0"/>
                          </a:solidFill>
                        </a:rPr>
                        <a:t>Bumpiness</a:t>
                      </a:r>
                    </a:p>
                  </a:txBody>
                  <a:tcPr marL="73152" marR="73152" anchor="ctr">
                    <a:solidFill>
                      <a:srgbClr val="131C2E"/>
                    </a:solidFill>
                  </a:tcPr>
                </a:tc>
                <a:tc>
                  <a:txBody>
                    <a:bodyPr wrap="square"/>
                    <a:lstStyle/>
                    <a:p>
                      <a:r>
                        <a:rPr sz="1400" b="0">
                          <a:solidFill>
                            <a:srgbClr val="E2E8F0"/>
                          </a:solidFill>
                        </a:rPr>
                        <a:t>−0.2 × Σ |adjacent height diffs|</a:t>
                      </a:r>
                    </a:p>
                  </a:txBody>
                  <a:tcPr marL="73152" marR="73152" anchor="ctr">
                    <a:solidFill>
                      <a:srgbClr val="131C2E"/>
                    </a:solidFill>
                  </a:tcPr>
                </a:tc>
              </a:tr>
              <a:tr h="457200">
                <a:tc>
                  <a:txBody>
                    <a:bodyPr wrap="square"/>
                    <a:lstStyle/>
                    <a:p>
                      <a:r>
                        <a:rPr sz="1400" b="0">
                          <a:solidFill>
                            <a:srgbClr val="E2E8F0"/>
                          </a:solidFill>
                        </a:rPr>
                        <a:t>Surface variance</a:t>
                      </a:r>
                    </a:p>
                  </a:txBody>
                  <a:tcPr marL="73152" marR="73152" anchor="ctr">
                    <a:solidFill>
                      <a:srgbClr val="0B1220"/>
                    </a:solidFill>
                  </a:tcPr>
                </a:tc>
                <a:tc>
                  <a:txBody>
                    <a:bodyPr wrap="square"/>
                    <a:lstStyle/>
                    <a:p>
                      <a:r>
                        <a:rPr sz="1400" b="0">
                          <a:solidFill>
                            <a:srgbClr val="E2E8F0"/>
                          </a:solidFill>
                        </a:rPr>
                        <a:t>−0.5 × variance of heights</a:t>
                      </a:r>
                    </a:p>
                  </a:txBody>
                  <a:tcPr marL="73152" marR="73152" anchor="ctr">
                    <a:solidFill>
                      <a:srgbClr val="0B1220"/>
                    </a:solidFill>
                  </a:tcPr>
                </a:tc>
              </a:tr>
              <a:tr h="457200">
                <a:tc>
                  <a:txBody>
                    <a:bodyPr wrap="square"/>
                    <a:lstStyle/>
                    <a:p>
                      <a:r>
                        <a:rPr sz="1400" b="0">
                          <a:solidFill>
                            <a:srgbClr val="E2E8F0"/>
                          </a:solidFill>
                        </a:rPr>
                        <a:t>Tall column</a:t>
                      </a:r>
                    </a:p>
                  </a:txBody>
                  <a:tcPr marL="73152" marR="73152" anchor="ctr">
                    <a:solidFill>
                      <a:srgbClr val="131C2E"/>
                    </a:solidFill>
                  </a:tcPr>
                </a:tc>
                <a:tc>
                  <a:txBody>
                    <a:bodyPr wrap="square"/>
                    <a:lstStyle/>
                    <a:p>
                      <a:r>
                        <a:rPr sz="1400" b="0">
                          <a:solidFill>
                            <a:srgbClr val="E2E8F0"/>
                          </a:solidFill>
                        </a:rPr>
                        <a:t>−10 × overflow above height 10</a:t>
                      </a:r>
                    </a:p>
                  </a:txBody>
                  <a:tcPr marL="73152" marR="73152" anchor="ctr">
                    <a:solidFill>
                      <a:srgbClr val="131C2E"/>
                    </a:solidFill>
                  </a:tcPr>
                </a:tc>
              </a:tr>
              <a:tr h="457200">
                <a:tc>
                  <a:txBody>
                    <a:bodyPr wrap="square"/>
                    <a:lstStyle/>
                    <a:p>
                      <a:r>
                        <a:rPr sz="1400" b="0">
                          <a:solidFill>
                            <a:srgbClr val="E2E8F0"/>
                          </a:solidFill>
                        </a:rPr>
                        <a:t>Isolated cells / orientation</a:t>
                      </a:r>
                    </a:p>
                  </a:txBody>
                  <a:tcPr marL="73152" marR="73152" anchor="ctr">
                    <a:solidFill>
                      <a:srgbClr val="0B1220"/>
                    </a:solidFill>
                  </a:tcPr>
                </a:tc>
                <a:tc>
                  <a:txBody>
                    <a:bodyPr wrap="square"/>
                    <a:lstStyle/>
                    <a:p>
                      <a:r>
                        <a:rPr sz="1400" b="0">
                          <a:solidFill>
                            <a:srgbClr val="E2E8F0"/>
                          </a:solidFill>
                        </a:rPr>
                        <a:t>−5 per isolated cell; +100 horizontal</a:t>
                      </a:r>
                    </a:p>
                  </a:txBody>
                  <a:tcPr marL="73152" marR="73152" anchor="ctr">
                    <a:solidFill>
                      <a:srgbClr val="0B1220"/>
                    </a:solidFill>
                  </a:tcPr>
                </a:tc>
              </a:tr>
            </a:tbl>
          </a:graphicData>
        </a:graphic>
      </p:graphicFrame>
      <p:sp>
        <p:nvSpPr>
          <p:cNvPr id="6" name="TextBox 5"/>
          <p:cNvSpPr txBox="1"/>
          <p:nvPr/>
        </p:nvSpPr>
        <p:spPr>
          <a:xfrm>
            <a:off x="8138160" y="1463040"/>
            <a:ext cx="3749039" cy="5120640"/>
          </a:xfrm>
          <a:prstGeom prst="rect">
            <a:avLst/>
          </a:prstGeom>
          <a:noFill/>
        </p:spPr>
        <p:txBody>
          <a:bodyPr wrap="square">
            <a:spAutoFit/>
          </a:bodyPr>
          <a:lstStyle/>
          <a:p>
            <a:pPr>
              <a:spcAft>
                <a:spcPts val="1000"/>
              </a:spcAft>
            </a:pPr>
            <a:r>
              <a:rPr sz="1600" b="0">
                <a:solidFill>
                  <a:srgbClr val="E2E8F0"/>
                </a:solidFill>
              </a:rPr>
              <a:t>•  Candidates come from the </a:t>
            </a:r>
            <a:r>
              <a:rPr sz="1600" b="1">
                <a:solidFill>
                  <a:srgbClr val="67E8F9"/>
                </a:solidFill>
              </a:rPr>
              <a:t>BFS engine</a:t>
            </a:r>
            <a:r>
              <a:rPr sz="1600" b="0">
                <a:solidFill>
                  <a:srgbClr val="E2E8F0"/>
                </a:solidFill>
              </a:rPr>
              <a:t>, so it never invents an illegal move</a:t>
            </a:r>
          </a:p>
          <a:p>
            <a:pPr>
              <a:spcAft>
                <a:spcPts val="1000"/>
              </a:spcAft>
            </a:pPr>
            <a:r>
              <a:rPr sz="1600" b="0">
                <a:solidFill>
                  <a:srgbClr val="E2E8F0"/>
                </a:solidFill>
              </a:rPr>
              <a:t>•  </a:t>
            </a:r>
            <a:r>
              <a:rPr sz="1600" b="1">
                <a:solidFill>
                  <a:srgbClr val="67E8F9"/>
                </a:solidFill>
              </a:rPr>
              <a:t>I-piece special case</a:t>
            </a:r>
            <a:r>
              <a:rPr sz="1600" b="0">
                <a:solidFill>
                  <a:srgbClr val="E2E8F0"/>
                </a:solidFill>
              </a:rPr>
              <a:t>: reward horizontal row-fills, cap column height ~12</a:t>
            </a:r>
          </a:p>
          <a:p>
            <a:pPr>
              <a:spcAft>
                <a:spcPts val="1000"/>
              </a:spcAft>
            </a:pPr>
            <a:r>
              <a:rPr sz="1600" b="0">
                <a:solidFill>
                  <a:srgbClr val="E2E8F0"/>
                </a:solidFill>
              </a:rPr>
              <a:t>•  Coverage knobs: </a:t>
            </a:r>
            <a:r>
              <a:rPr sz="1500" b="0">
                <a:solidFill>
                  <a:srgbClr val="E2E8F0"/>
                </a:solidFill>
                <a:latin typeface="Consolas"/>
              </a:rPr>
              <a:t>--placement-direction</a:t>
            </a:r>
            <a:r>
              <a:rPr sz="1600" b="0">
                <a:solidFill>
                  <a:srgbClr val="E2E8F0"/>
                </a:solidFill>
              </a:rPr>
              <a:t>, </a:t>
            </a:r>
            <a:r>
              <a:rPr sz="1500" b="0">
                <a:solidFill>
                  <a:srgbClr val="E2E8F0"/>
                </a:solidFill>
                <a:latin typeface="Consolas"/>
              </a:rPr>
              <a:t>--preferred-rotation</a:t>
            </a:r>
          </a:p>
          <a:p>
            <a:pPr>
              <a:spcAft>
                <a:spcPts val="1000"/>
              </a:spcAft>
            </a:pPr>
            <a:r>
              <a:rPr sz="1600" b="0">
                <a:solidFill>
                  <a:srgbClr val="E2E8F0"/>
                </a:solidFill>
              </a:rPr>
              <a:t>•  Limitations: greedy, deterministic, </a:t>
            </a:r>
            <a:r>
              <a:rPr sz="1600" b="1">
                <a:solidFill>
                  <a:srgbClr val="67E8F9"/>
                </a:solidFill>
              </a:rPr>
              <a:t>hand-tuned weights</a:t>
            </a:r>
            <a:r>
              <a:rPr sz="1600" b="0">
                <a:solidFill>
                  <a:srgbClr val="E2E8F0"/>
                </a:solidFill>
              </a:rPr>
              <a:t>, which is the thing we want to learn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Clean training data</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training_data_clean/: generated with the reachability-fixed engine</a:t>
            </a:r>
          </a:p>
        </p:txBody>
      </p:sp>
      <p:graphicFrame>
        <p:nvGraphicFramePr>
          <p:cNvPr id="5" name="Table 4"/>
          <p:cNvGraphicFramePr>
            <a:graphicFrameLocks noGrp="1"/>
          </p:cNvGraphicFramePr>
          <p:nvPr/>
        </p:nvGraphicFramePr>
        <p:xfrm>
          <a:off x="502920" y="1463040"/>
          <a:ext cx="4754880" cy="3017520"/>
        </p:xfrm>
        <a:graphic>
          <a:graphicData uri="http://schemas.openxmlformats.org/drawingml/2006/table">
            <a:tbl>
              <a:tblPr firstRow="1" bandRow="1">
                <a:tableStyleId>{5C22544A-7EE6-4342-B048-85BDC9FD1C3A}</a:tableStyleId>
              </a:tblPr>
              <a:tblGrid>
                <a:gridCol w="2560320"/>
                <a:gridCol w="2194560"/>
              </a:tblGrid>
              <a:tr h="502920">
                <a:tc>
                  <a:txBody>
                    <a:bodyPr wrap="square"/>
                    <a:lstStyle/>
                    <a:p>
                      <a:r>
                        <a:rPr sz="1600" b="1">
                          <a:solidFill>
                            <a:srgbClr val="67E8F9"/>
                          </a:solidFill>
                        </a:rPr>
                        <a:t>Metric</a:t>
                      </a:r>
                    </a:p>
                  </a:txBody>
                  <a:tcPr marL="73152" marR="73152" anchor="ctr">
                    <a:solidFill>
                      <a:srgbClr val="1E293B"/>
                    </a:solidFill>
                  </a:tcPr>
                </a:tc>
                <a:tc>
                  <a:txBody>
                    <a:bodyPr wrap="square"/>
                    <a:lstStyle/>
                    <a:p>
                      <a:r>
                        <a:rPr sz="1600" b="1">
                          <a:solidFill>
                            <a:srgbClr val="67E8F9"/>
                          </a:solidFill>
                        </a:rPr>
                        <a:t>Value</a:t>
                      </a:r>
                    </a:p>
                  </a:txBody>
                  <a:tcPr marL="73152" marR="73152" anchor="ctr">
                    <a:solidFill>
                      <a:srgbClr val="1E293B"/>
                    </a:solidFill>
                  </a:tcPr>
                </a:tc>
              </a:tr>
              <a:tr h="502920">
                <a:tc>
                  <a:txBody>
                    <a:bodyPr wrap="square"/>
                    <a:lstStyle/>
                    <a:p>
                      <a:r>
                        <a:rPr sz="1600" b="0">
                          <a:solidFill>
                            <a:srgbClr val="E2E8F0"/>
                          </a:solidFill>
                        </a:rPr>
                        <a:t>Games</a:t>
                      </a:r>
                    </a:p>
                  </a:txBody>
                  <a:tcPr marL="73152" marR="73152" anchor="ctr">
                    <a:solidFill>
                      <a:srgbClr val="131C2E"/>
                    </a:solidFill>
                  </a:tcPr>
                </a:tc>
                <a:tc>
                  <a:txBody>
                    <a:bodyPr wrap="square"/>
                    <a:lstStyle/>
                    <a:p>
                      <a:r>
                        <a:rPr sz="1600" b="0">
                          <a:solidFill>
                            <a:srgbClr val="E2E8F0"/>
                          </a:solidFill>
                        </a:rPr>
                        <a:t>191</a:t>
                      </a:r>
                    </a:p>
                  </a:txBody>
                  <a:tcPr marL="73152" marR="73152" anchor="ctr">
                    <a:solidFill>
                      <a:srgbClr val="131C2E"/>
                    </a:solidFill>
                  </a:tcPr>
                </a:tc>
              </a:tr>
              <a:tr h="502920">
                <a:tc>
                  <a:txBody>
                    <a:bodyPr wrap="square"/>
                    <a:lstStyle/>
                    <a:p>
                      <a:r>
                        <a:rPr sz="1600" b="0">
                          <a:solidFill>
                            <a:srgbClr val="E2E8F0"/>
                          </a:solidFill>
                        </a:rPr>
                        <a:t>Pruning floor</a:t>
                      </a:r>
                    </a:p>
                  </a:txBody>
                  <a:tcPr marL="73152" marR="73152" anchor="ctr">
                    <a:solidFill>
                      <a:srgbClr val="0B1220"/>
                    </a:solidFill>
                  </a:tcPr>
                </a:tc>
                <a:tc>
                  <a:txBody>
                    <a:bodyPr wrap="square"/>
                    <a:lstStyle/>
                    <a:p>
                      <a:r>
                        <a:rPr sz="1600" b="0">
                          <a:solidFill>
                            <a:srgbClr val="E2E8F0"/>
                          </a:solidFill>
                        </a:rPr>
                        <a:t>≥ 5 lines</a:t>
                      </a:r>
                    </a:p>
                  </a:txBody>
                  <a:tcPr marL="73152" marR="73152" anchor="ctr">
                    <a:solidFill>
                      <a:srgbClr val="0B1220"/>
                    </a:solidFill>
                  </a:tcPr>
                </a:tc>
              </a:tr>
              <a:tr h="502920">
                <a:tc>
                  <a:txBody>
                    <a:bodyPr wrap="square"/>
                    <a:lstStyle/>
                    <a:p>
                      <a:r>
                        <a:rPr sz="1600" b="0">
                          <a:solidFill>
                            <a:srgbClr val="E2E8F0"/>
                          </a:solidFill>
                        </a:rPr>
                        <a:t>Median lines</a:t>
                      </a:r>
                    </a:p>
                  </a:txBody>
                  <a:tcPr marL="73152" marR="73152" anchor="ctr">
                    <a:solidFill>
                      <a:srgbClr val="131C2E"/>
                    </a:solidFill>
                  </a:tcPr>
                </a:tc>
                <a:tc>
                  <a:txBody>
                    <a:bodyPr wrap="square"/>
                    <a:lstStyle/>
                    <a:p>
                      <a:r>
                        <a:rPr sz="1600" b="1">
                          <a:solidFill>
                            <a:srgbClr val="67E8F9"/>
                          </a:solidFill>
                        </a:rPr>
                        <a:t>18</a:t>
                      </a:r>
                    </a:p>
                  </a:txBody>
                  <a:tcPr marL="73152" marR="73152" anchor="ctr">
                    <a:solidFill>
                      <a:srgbClr val="131C2E"/>
                    </a:solidFill>
                  </a:tcPr>
                </a:tc>
              </a:tr>
              <a:tr h="502920">
                <a:tc>
                  <a:txBody>
                    <a:bodyPr wrap="square"/>
                    <a:lstStyle/>
                    <a:p>
                      <a:r>
                        <a:rPr sz="1600" b="0">
                          <a:solidFill>
                            <a:srgbClr val="E2E8F0"/>
                          </a:solidFill>
                        </a:rPr>
                        <a:t>Mean / max lines</a:t>
                      </a:r>
                    </a:p>
                  </a:txBody>
                  <a:tcPr marL="73152" marR="73152" anchor="ctr">
                    <a:solidFill>
                      <a:srgbClr val="0B1220"/>
                    </a:solidFill>
                  </a:tcPr>
                </a:tc>
                <a:tc>
                  <a:txBody>
                    <a:bodyPr wrap="square"/>
                    <a:lstStyle/>
                    <a:p>
                      <a:r>
                        <a:rPr sz="1600" b="0">
                          <a:solidFill>
                            <a:srgbClr val="E2E8F0"/>
                          </a:solidFill>
                        </a:rPr>
                        <a:t>~21 / 76</a:t>
                      </a:r>
                    </a:p>
                  </a:txBody>
                  <a:tcPr marL="73152" marR="73152" anchor="ctr">
                    <a:solidFill>
                      <a:srgbClr val="0B1220"/>
                    </a:solidFill>
                  </a:tcPr>
                </a:tc>
              </a:tr>
              <a:tr h="502920">
                <a:tc>
                  <a:txBody>
                    <a:bodyPr wrap="square"/>
                    <a:lstStyle/>
                    <a:p>
                      <a:r>
                        <a:rPr sz="1600" b="0">
                          <a:solidFill>
                            <a:srgbClr val="E2E8F0"/>
                          </a:solidFill>
                        </a:rPr>
                        <a:t>Unreachable / floating</a:t>
                      </a:r>
                    </a:p>
                  </a:txBody>
                  <a:tcPr marL="73152" marR="73152" anchor="ctr">
                    <a:solidFill>
                      <a:srgbClr val="131C2E"/>
                    </a:solidFill>
                  </a:tcPr>
                </a:tc>
                <a:tc>
                  <a:txBody>
                    <a:bodyPr wrap="square"/>
                    <a:lstStyle/>
                    <a:p>
                      <a:r>
                        <a:rPr sz="1600" b="1">
                          <a:solidFill>
                            <a:srgbClr val="67E8F9"/>
                          </a:solidFill>
                        </a:rPr>
                        <a:t>0</a:t>
                      </a:r>
                      <a:r>
                        <a:rPr sz="1600" b="0">
                          <a:solidFill>
                            <a:srgbClr val="E2E8F0"/>
                          </a:solidFill>
                        </a:rPr>
                        <a:t> (by construction)</a:t>
                      </a:r>
                    </a:p>
                  </a:txBody>
                  <a:tcPr marL="73152" marR="73152" anchor="ctr">
                    <a:solidFill>
                      <a:srgbClr val="131C2E"/>
                    </a:solidFill>
                  </a:tcPr>
                </a:tc>
              </a:tr>
            </a:tbl>
          </a:graphicData>
        </a:graphic>
      </p:graphicFrame>
      <p:sp>
        <p:nvSpPr>
          <p:cNvPr id="6" name="Rounded Rectangle 5"/>
          <p:cNvSpPr/>
          <p:nvPr/>
        </p:nvSpPr>
        <p:spPr>
          <a:xfrm>
            <a:off x="5669280" y="1463040"/>
            <a:ext cx="6035040" cy="237744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400">
                <a:solidFill>
                  <a:srgbClr val="E2E8F0"/>
                </a:solidFill>
                <a:latin typeface="Consolas"/>
              </a:rPr>
              <a:t>{</a:t>
            </a:r>
          </a:p>
          <a:p>
            <a:pPr algn="l"/>
            <a:r>
              <a:rPr sz="1400">
                <a:solidFill>
                  <a:srgbClr val="E2E8F0"/>
                </a:solidFill>
                <a:latin typeface="Consolas"/>
              </a:rPr>
              <a:t>  "move_type": "place",</a:t>
            </a:r>
          </a:p>
          <a:p>
            <a:pPr algn="l"/>
            <a:r>
              <a:rPr sz="1400">
                <a:solidFill>
                  <a:srgbClr val="E2E8F0"/>
                </a:solidFill>
                <a:latin typeface="Consolas"/>
              </a:rPr>
              <a:t>  "piece_type": "T",</a:t>
            </a:r>
          </a:p>
          <a:p>
            <a:pPr algn="l"/>
            <a:r>
              <a:rPr sz="1400">
                <a:solidFill>
                  <a:srgbClr val="E2E8F0"/>
                </a:solidFill>
                <a:latin typeface="Consolas"/>
              </a:rPr>
              <a:t>  "piece_position": {"row": 19, "col": 1,</a:t>
            </a:r>
          </a:p>
          <a:p>
            <a:pPr algn="l"/>
            <a:r>
              <a:rPr sz="1400">
                <a:solidFill>
                  <a:srgbClr val="E2E8F0"/>
                </a:solidFill>
                <a:latin typeface="Consolas"/>
              </a:rPr>
              <a:t>                     "rotation": 0},</a:t>
            </a:r>
          </a:p>
          <a:p>
            <a:pPr algn="l"/>
            <a:r>
              <a:rPr sz="1400">
                <a:solidFill>
                  <a:srgbClr val="E2E8F0"/>
                </a:solidFill>
                <a:latin typeface="Consolas"/>
              </a:rPr>
              <a:t>  "lines_cleared": 0,</a:t>
            </a:r>
          </a:p>
          <a:p>
            <a:pPr algn="l"/>
            <a:r>
              <a:rPr sz="1400">
                <a:solidFill>
                  <a:srgbClr val="E2E8F0"/>
                </a:solidFill>
                <a:latin typeface="Consolas"/>
              </a:rPr>
              <a:t>  "board_state": [[0,0,0, ...], ...]</a:t>
            </a:r>
          </a:p>
          <a:p>
            <a:pPr algn="l"/>
            <a:r>
              <a:rPr sz="1400">
                <a:solidFill>
                  <a:srgbClr val="E2E8F0"/>
                </a:solidFill>
                <a:latin typeface="Consolas"/>
              </a:rPr>
              <a:t>}</a:t>
            </a:r>
          </a:p>
        </p:txBody>
      </p:sp>
      <p:sp>
        <p:nvSpPr>
          <p:cNvPr id="7" name="TextBox 6"/>
          <p:cNvSpPr txBox="1"/>
          <p:nvPr/>
        </p:nvSpPr>
        <p:spPr>
          <a:xfrm>
            <a:off x="5669280" y="4023360"/>
            <a:ext cx="6035040" cy="2560320"/>
          </a:xfrm>
          <a:prstGeom prst="rect">
            <a:avLst/>
          </a:prstGeom>
          <a:noFill/>
        </p:spPr>
        <p:txBody>
          <a:bodyPr wrap="square">
            <a:spAutoFit/>
          </a:bodyPr>
          <a:lstStyle/>
          <a:p>
            <a:pPr>
              <a:spcAft>
                <a:spcPts val="800"/>
              </a:spcAft>
            </a:pPr>
            <a:r>
              <a:rPr sz="1500" b="0">
                <a:solidFill>
                  <a:srgbClr val="E2E8F0"/>
                </a:solidFill>
              </a:rPr>
              <a:t>•  </a:t>
            </a:r>
            <a:r>
              <a:rPr sz="1500" b="1">
                <a:solidFill>
                  <a:srgbClr val="67E8F9"/>
                </a:solidFill>
              </a:rPr>
              <a:t>state</a:t>
            </a:r>
            <a:r>
              <a:rPr sz="1500" b="0">
                <a:solidFill>
                  <a:srgbClr val="E2E8F0"/>
                </a:solidFill>
              </a:rPr>
              <a:t> = board, </a:t>
            </a:r>
            <a:r>
              <a:rPr sz="1500" b="1">
                <a:solidFill>
                  <a:srgbClr val="67E8F9"/>
                </a:solidFill>
              </a:rPr>
              <a:t>action</a:t>
            </a:r>
            <a:r>
              <a:rPr sz="1500" b="0">
                <a:solidFill>
                  <a:srgbClr val="E2E8F0"/>
                </a:solidFill>
              </a:rPr>
              <a:t> = (piece, row, col, rotation), </a:t>
            </a:r>
            <a:r>
              <a:rPr sz="1500" b="1">
                <a:solidFill>
                  <a:srgbClr val="67E8F9"/>
                </a:solidFill>
              </a:rPr>
              <a:t>reward</a:t>
            </a:r>
            <a:r>
              <a:rPr sz="1500" b="0">
                <a:solidFill>
                  <a:srgbClr val="E2E8F0"/>
                </a:solidFill>
              </a:rPr>
              <a:t> = lines_cleared</a:t>
            </a:r>
          </a:p>
          <a:p>
            <a:pPr>
              <a:spcAft>
                <a:spcPts val="800"/>
              </a:spcAft>
            </a:pPr>
            <a:r>
              <a:rPr sz="1500" b="0">
                <a:solidFill>
                  <a:srgbClr val="E2E8F0"/>
                </a:solidFill>
              </a:rPr>
              <a:t>•  VAE reconstructs the action · GAN's discriminator judges it · transformer contrasts it with all other legal moves</a:t>
            </a:r>
          </a:p>
          <a:p>
            <a:pPr>
              <a:spcAft>
                <a:spcPts val="800"/>
              </a:spcAft>
            </a:pPr>
            <a:r>
              <a:rPr sz="1500" b="0">
                <a:solidFill>
                  <a:srgbClr val="E2E8F0"/>
                </a:solidFill>
              </a:rPr>
              <a:t>•  </a:t>
            </a:r>
            <a:r>
              <a:rPr sz="1400" b="0">
                <a:solidFill>
                  <a:srgbClr val="E2E8F0"/>
                </a:solidFill>
                <a:latin typeface="Consolas"/>
              </a:rPr>
              <a:t>API_URL=… GAMES=200 MAX_LINES=80 ./generate_clean_data.sh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Notebook lab scenarios</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nb_setup.SCENARIOS: set PIECE and SCENARIO in each notebook's lab cell</a:t>
            </a:r>
          </a:p>
        </p:txBody>
      </p:sp>
      <p:pic>
        <p:nvPicPr>
          <p:cNvPr id="5" name="Picture 4" descr="scenarios.png"/>
          <p:cNvPicPr>
            <a:picLocks noChangeAspect="1"/>
          </p:cNvPicPr>
          <p:nvPr/>
        </p:nvPicPr>
        <p:blipFill>
          <a:blip r:embed="rId3"/>
          <a:stretch>
            <a:fillRect/>
          </a:stretch>
        </p:blipFill>
        <p:spPr>
          <a:xfrm>
            <a:off x="502920" y="1733454"/>
            <a:ext cx="11247120" cy="3299651"/>
          </a:xfrm>
          <a:prstGeom prst="rect">
            <a:avLst/>
          </a:prstGeom>
        </p:spPr>
      </p:pic>
      <p:sp>
        <p:nvSpPr>
          <p:cNvPr id="6" name="TextBox 5"/>
          <p:cNvSpPr txBox="1"/>
          <p:nvPr/>
        </p:nvSpPr>
        <p:spPr>
          <a:xfrm>
            <a:off x="502920" y="5486400"/>
            <a:ext cx="11247120" cy="1188720"/>
          </a:xfrm>
          <a:prstGeom prst="rect">
            <a:avLst/>
          </a:prstGeom>
          <a:noFill/>
        </p:spPr>
        <p:txBody>
          <a:bodyPr wrap="square">
            <a:spAutoFit/>
          </a:bodyPr>
          <a:lstStyle/>
          <a:p>
            <a:pPr>
              <a:spcAft>
                <a:spcPts val="600"/>
              </a:spcAft>
            </a:pPr>
            <a:r>
              <a:rPr sz="1600" b="0">
                <a:solidFill>
                  <a:srgbClr val="E2E8F0"/>
                </a:solidFill>
              </a:rPr>
              <a:t>•  </a:t>
            </a:r>
            <a:r>
              <a:rPr sz="1600" b="1">
                <a:solidFill>
                  <a:srgbClr val="67E8F9"/>
                </a:solidFill>
              </a:rPr>
              <a:t>almost_line + I</a:t>
            </a:r>
            <a:r>
              <a:rPr sz="1600" b="0">
                <a:solidFill>
                  <a:srgbClr val="E2E8F0"/>
                </a:solidFill>
              </a:rPr>
              <a:t>: a free line clear.  </a:t>
            </a:r>
            <a:r>
              <a:rPr sz="1600" b="1">
                <a:solidFill>
                  <a:srgbClr val="67E8F9"/>
                </a:solidFill>
              </a:rPr>
              <a:t>right_well + I</a:t>
            </a:r>
            <a:r>
              <a:rPr sz="1600" b="0">
                <a:solidFill>
                  <a:srgbClr val="E2E8F0"/>
                </a:solidFill>
              </a:rPr>
              <a:t>: the Tetris well.  </a:t>
            </a:r>
            <a:r>
              <a:rPr sz="1600" b="1">
                <a:solidFill>
                  <a:srgbClr val="67E8F9"/>
                </a:solidFill>
              </a:rPr>
              <a:t>bumpy + T</a:t>
            </a:r>
            <a:r>
              <a:rPr sz="1600" b="0">
                <a:solidFill>
                  <a:srgbClr val="E2E8F0"/>
                </a:solidFill>
              </a:rPr>
              <a:t>: off-distribution surface.  </a:t>
            </a:r>
            <a:r>
              <a:rPr sz="1600" b="1">
                <a:solidFill>
                  <a:srgbClr val="67E8F9"/>
                </a:solidFill>
              </a:rPr>
              <a:t>overhang_pocket</a:t>
            </a:r>
            <a:r>
              <a:rPr sz="1600" b="0">
                <a:solidFill>
                  <a:srgbClr val="E2E8F0"/>
                </a:solidFill>
              </a:rPr>
              <a:t>: only BFS-reachable poses exist.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822960" y="2011680"/>
            <a:ext cx="10058400" cy="548640"/>
          </a:xfrm>
          <a:prstGeom prst="rect">
            <a:avLst/>
          </a:prstGeom>
          <a:noFill/>
        </p:spPr>
        <p:txBody>
          <a:bodyPr wrap="square" anchor="t">
            <a:spAutoFit/>
          </a:bodyPr>
          <a:lstStyle/>
          <a:p>
            <a:pPr algn="l"/>
            <a:r>
              <a:rPr sz="2000" b="1">
                <a:solidFill>
                  <a:srgbClr val="F87171"/>
                </a:solidFill>
              </a:rPr>
              <a:t>SOLVER 1</a:t>
            </a:r>
          </a:p>
        </p:txBody>
      </p:sp>
      <p:sp>
        <p:nvSpPr>
          <p:cNvPr id="3" name="TextBox 2"/>
          <p:cNvSpPr txBox="1"/>
          <p:nvPr/>
        </p:nvSpPr>
        <p:spPr>
          <a:xfrm>
            <a:off x="822960" y="2560320"/>
            <a:ext cx="10515600" cy="1097280"/>
          </a:xfrm>
          <a:prstGeom prst="rect">
            <a:avLst/>
          </a:prstGeom>
          <a:noFill/>
        </p:spPr>
        <p:txBody>
          <a:bodyPr wrap="square" anchor="t">
            <a:spAutoFit/>
          </a:bodyPr>
          <a:lstStyle/>
          <a:p>
            <a:pPr algn="l"/>
            <a:r>
              <a:rPr sz="4400" b="1">
                <a:solidFill>
                  <a:srgbClr val="E2E8F0"/>
                </a:solidFill>
              </a:rPr>
              <a:t>VAE v2: learn to imitate</a:t>
            </a:r>
          </a:p>
        </p:txBody>
      </p:sp>
      <p:sp>
        <p:nvSpPr>
          <p:cNvPr id="4" name="TextBox 3"/>
          <p:cNvSpPr txBox="1"/>
          <p:nvPr/>
        </p:nvSpPr>
        <p:spPr>
          <a:xfrm>
            <a:off x="822960" y="3657600"/>
            <a:ext cx="10515600" cy="914400"/>
          </a:xfrm>
          <a:prstGeom prst="rect">
            <a:avLst/>
          </a:prstGeom>
          <a:noFill/>
        </p:spPr>
        <p:txBody>
          <a:bodyPr wrap="square" anchor="t">
            <a:spAutoFit/>
          </a:bodyPr>
          <a:lstStyle/>
          <a:p>
            <a:pPr algn="l"/>
            <a:r>
              <a:rPr sz="2000" b="0">
                <a:solidFill>
                  <a:srgbClr val="94A3B8"/>
                </a:solidFill>
              </a:rPr>
              <a:t>Conditional VAE trained to reconstruct the teacher's placement; plays by posterior ranking</a:t>
            </a:r>
          </a:p>
        </p:txBody>
      </p:sp>
      <p:sp>
        <p:nvSpPr>
          <p:cNvPr id="5" name="TextBox 4"/>
          <p:cNvSpPr txBox="1"/>
          <p:nvPr/>
        </p:nvSpPr>
        <p:spPr>
          <a:xfrm>
            <a:off x="822960" y="4937760"/>
            <a:ext cx="10515600" cy="457200"/>
          </a:xfrm>
          <a:prstGeom prst="rect">
            <a:avLst/>
          </a:prstGeom>
          <a:noFill/>
        </p:spPr>
        <p:txBody>
          <a:bodyPr wrap="square" anchor="t">
            <a:spAutoFit/>
          </a:bodyPr>
          <a:lstStyle/>
          <a:p>
            <a:pPr algn="l"/>
            <a:r>
              <a:rPr sz="1600" b="0">
                <a:solidFill>
                  <a:srgbClr val="67E8F9"/>
                </a:solidFill>
                <a:latin typeface="Consolas"/>
              </a:rPr>
              <a:t>Notebook: notebooks/01_vae_training_and_solver.ipynb</a:t>
            </a:r>
          </a:p>
        </p:txBody>
      </p:sp>
      <p:sp>
        <p:nvSpPr>
          <p:cNvPr id="6" name="Rectangle 5"/>
          <p:cNvSpPr/>
          <p:nvPr/>
        </p:nvSpPr>
        <p:spPr>
          <a:xfrm>
            <a:off x="822960" y="1874519"/>
            <a:ext cx="1280160" cy="6400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VAE architecture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Encode (board, action) → z, decode (board, z, piece) → action</a:t>
            </a:r>
          </a:p>
        </p:txBody>
      </p:sp>
      <p:sp>
        <p:nvSpPr>
          <p:cNvPr id="5" name="Rounded Rectangle 4"/>
          <p:cNvSpPr/>
          <p:nvPr/>
        </p:nvSpPr>
        <p:spPr>
          <a:xfrm>
            <a:off x="502920" y="1463040"/>
            <a:ext cx="6400800" cy="274320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400">
                <a:solidFill>
                  <a:srgbClr val="E2E8F0"/>
                </a:solidFill>
                <a:latin typeface="Consolas"/>
              </a:rPr>
              <a:t>board (20×10×1)</a:t>
            </a:r>
          </a:p>
          <a:p>
            <a:pPr algn="l"/>
            <a:r>
              <a:rPr sz="1400">
                <a:solidFill>
                  <a:srgbClr val="E2E8F0"/>
                </a:solidFill>
                <a:latin typeface="Consolas"/>
              </a:rPr>
              <a:t>  Conv 32 → 64 → 96 (stride) → 128 (stride)</a:t>
            </a:r>
          </a:p>
          <a:p>
            <a:pPr algn="l"/>
            <a:r>
              <a:rPr sz="1400">
                <a:solidFill>
                  <a:srgbClr val="E2E8F0"/>
                </a:solidFill>
                <a:latin typeface="Consolas"/>
              </a:rPr>
              <a:t>  → flatten → Dense 256            = board_feat</a:t>
            </a:r>
          </a:p>
          <a:p>
            <a:pPr algn="l"/>
            <a:r>
              <a:rPr sz="1400">
                <a:solidFill>
                  <a:srgbClr val="E2E8F0"/>
                </a:solidFill>
                <a:latin typeface="Consolas"/>
              </a:rPr>
              <a:t>action  = piece(7) | rot(4) | (row/H, col/W)   13-d</a:t>
            </a:r>
          </a:p>
          <a:p>
            <a:pPr algn="l"/>
            <a:r>
              <a:rPr sz="1400">
                <a:solidFill>
                  <a:srgbClr val="E2E8F0"/>
                </a:solidFill>
                <a:latin typeface="Consolas"/>
              </a:rPr>
              <a:t>encoder: (board_feat, action) → z_mean, z_log_var</a:t>
            </a:r>
          </a:p>
          <a:p>
            <a:pPr algn="l"/>
            <a:r>
              <a:rPr sz="1400">
                <a:solidFill>
                  <a:srgbClr val="E2E8F0"/>
                </a:solidFill>
                <a:latin typeface="Consolas"/>
              </a:rPr>
              <a:t>decoder: (board_feat, z, piece_embed)</a:t>
            </a:r>
          </a:p>
          <a:p>
            <a:pPr algn="l"/>
            <a:r>
              <a:rPr sz="1400">
                <a:solidFill>
                  <a:srgbClr val="E2E8F0"/>
                </a:solidFill>
                <a:latin typeface="Consolas"/>
              </a:rPr>
              <a:t>         → piece / rotation / position heads</a:t>
            </a:r>
          </a:p>
          <a:p>
            <a:pPr algn="l"/>
            <a:r>
              <a:rPr sz="1400">
                <a:solidFill>
                  <a:srgbClr val="E2E8F0"/>
                </a:solidFill>
                <a:latin typeface="Consolas"/>
              </a:rPr>
              <a:t>loss = piece CE + rot CE + 10·pos MSE + β·KL</a:t>
            </a:r>
          </a:p>
        </p:txBody>
      </p:sp>
      <p:graphicFrame>
        <p:nvGraphicFramePr>
          <p:cNvPr id="6" name="Table 5"/>
          <p:cNvGraphicFramePr>
            <a:graphicFrameLocks noGrp="1"/>
          </p:cNvGraphicFramePr>
          <p:nvPr/>
        </p:nvGraphicFramePr>
        <p:xfrm>
          <a:off x="7223760" y="1463040"/>
          <a:ext cx="4571999" cy="2743200"/>
        </p:xfrm>
        <a:graphic>
          <a:graphicData uri="http://schemas.openxmlformats.org/drawingml/2006/table">
            <a:tbl>
              <a:tblPr firstRow="1" bandRow="1">
                <a:tableStyleId>{5C22544A-7EE6-4342-B048-85BDC9FD1C3A}</a:tableStyleId>
              </a:tblPr>
              <a:tblGrid>
                <a:gridCol w="1230923"/>
                <a:gridCol w="1494692"/>
                <a:gridCol w="1846384"/>
              </a:tblGrid>
              <a:tr h="457200">
                <a:tc>
                  <a:txBody>
                    <a:bodyPr wrap="square"/>
                    <a:lstStyle/>
                    <a:p/>
                  </a:txBody>
                  <a:tcPr marL="73152" marR="73152" anchor="ctr">
                    <a:solidFill>
                      <a:srgbClr val="1E293B"/>
                    </a:solidFill>
                  </a:tcPr>
                </a:tc>
                <a:tc>
                  <a:txBody>
                    <a:bodyPr wrap="square"/>
                    <a:lstStyle/>
                    <a:p>
                      <a:r>
                        <a:rPr sz="1300" b="1">
                          <a:solidFill>
                            <a:srgbClr val="67E8F9"/>
                          </a:solidFill>
                        </a:rPr>
                        <a:t>v1</a:t>
                      </a:r>
                    </a:p>
                  </a:txBody>
                  <a:tcPr marL="73152" marR="73152" anchor="ctr">
                    <a:solidFill>
                      <a:srgbClr val="1E293B"/>
                    </a:solidFill>
                  </a:tcPr>
                </a:tc>
                <a:tc>
                  <a:txBody>
                    <a:bodyPr wrap="square"/>
                    <a:lstStyle/>
                    <a:p>
                      <a:r>
                        <a:rPr sz="1300" b="1">
                          <a:solidFill>
                            <a:srgbClr val="67E8F9"/>
                          </a:solidFill>
                        </a:rPr>
                        <a:t>v2</a:t>
                      </a:r>
                    </a:p>
                  </a:txBody>
                  <a:tcPr marL="73152" marR="73152" anchor="ctr">
                    <a:solidFill>
                      <a:srgbClr val="1E293B"/>
                    </a:solidFill>
                  </a:tcPr>
                </a:tc>
              </a:tr>
              <a:tr h="457200">
                <a:tc>
                  <a:txBody>
                    <a:bodyPr wrap="square"/>
                    <a:lstStyle/>
                    <a:p>
                      <a:r>
                        <a:rPr sz="1300" b="0">
                          <a:solidFill>
                            <a:srgbClr val="E2E8F0"/>
                          </a:solidFill>
                        </a:rPr>
                        <a:t>Board CNN</a:t>
                      </a:r>
                    </a:p>
                  </a:txBody>
                  <a:tcPr marL="73152" marR="73152" anchor="ctr">
                    <a:solidFill>
                      <a:srgbClr val="131C2E"/>
                    </a:solidFill>
                  </a:tcPr>
                </a:tc>
                <a:tc>
                  <a:txBody>
                    <a:bodyPr wrap="square"/>
                    <a:lstStyle/>
                    <a:p>
                      <a:r>
                        <a:rPr sz="1300" b="0">
                          <a:solidFill>
                            <a:srgbClr val="E2E8F0"/>
                          </a:solidFill>
                        </a:rPr>
                        <a:t>2 conv + GAP</a:t>
                      </a:r>
                    </a:p>
                  </a:txBody>
                  <a:tcPr marL="73152" marR="73152" anchor="ctr">
                    <a:solidFill>
                      <a:srgbClr val="131C2E"/>
                    </a:solidFill>
                  </a:tcPr>
                </a:tc>
                <a:tc>
                  <a:txBody>
                    <a:bodyPr wrap="square"/>
                    <a:lstStyle/>
                    <a:p>
                      <a:r>
                        <a:rPr sz="1300" b="0">
                          <a:solidFill>
                            <a:srgbClr val="E2E8F0"/>
                          </a:solidFill>
                        </a:rPr>
                        <a:t>4 conv, strided + flatten</a:t>
                      </a:r>
                    </a:p>
                  </a:txBody>
                  <a:tcPr marL="73152" marR="73152" anchor="ctr">
                    <a:solidFill>
                      <a:srgbClr val="131C2E"/>
                    </a:solidFill>
                  </a:tcPr>
                </a:tc>
              </a:tr>
              <a:tr h="457200">
                <a:tc>
                  <a:txBody>
                    <a:bodyPr wrap="square"/>
                    <a:lstStyle/>
                    <a:p>
                      <a:r>
                        <a:rPr sz="1300" b="0">
                          <a:solidFill>
                            <a:srgbClr val="E2E8F0"/>
                          </a:solidFill>
                        </a:rPr>
                        <a:t>Latent</a:t>
                      </a:r>
                    </a:p>
                  </a:txBody>
                  <a:tcPr marL="73152" marR="73152" anchor="ctr">
                    <a:solidFill>
                      <a:srgbClr val="0B1220"/>
                    </a:solidFill>
                  </a:tcPr>
                </a:tc>
                <a:tc>
                  <a:txBody>
                    <a:bodyPr wrap="square"/>
                    <a:lstStyle/>
                    <a:p>
                      <a:r>
                        <a:rPr sz="1300" b="0">
                          <a:solidFill>
                            <a:srgbClr val="E2E8F0"/>
                          </a:solidFill>
                        </a:rPr>
                        <a:t>32</a:t>
                      </a:r>
                    </a:p>
                  </a:txBody>
                  <a:tcPr marL="73152" marR="73152" anchor="ctr">
                    <a:solidFill>
                      <a:srgbClr val="0B1220"/>
                    </a:solidFill>
                  </a:tcPr>
                </a:tc>
                <a:tc>
                  <a:txBody>
                    <a:bodyPr wrap="square"/>
                    <a:lstStyle/>
                    <a:p>
                      <a:r>
                        <a:rPr sz="1300" b="0">
                          <a:solidFill>
                            <a:srgbClr val="E2E8F0"/>
                          </a:solidFill>
                        </a:rPr>
                        <a:t>64–256</a:t>
                      </a:r>
                    </a:p>
                  </a:txBody>
                  <a:tcPr marL="73152" marR="73152" anchor="ctr">
                    <a:solidFill>
                      <a:srgbClr val="0B1220"/>
                    </a:solidFill>
                  </a:tcPr>
                </a:tc>
              </a:tr>
              <a:tr h="457200">
                <a:tc>
                  <a:txBody>
                    <a:bodyPr wrap="square"/>
                    <a:lstStyle/>
                    <a:p>
                      <a:r>
                        <a:rPr sz="1300" b="0">
                          <a:solidFill>
                            <a:srgbClr val="E2E8F0"/>
                          </a:solidFill>
                        </a:rPr>
                        <a:t>Decoder</a:t>
                      </a:r>
                    </a:p>
                  </a:txBody>
                  <a:tcPr marL="73152" marR="73152" anchor="ctr">
                    <a:solidFill>
                      <a:srgbClr val="131C2E"/>
                    </a:solidFill>
                  </a:tcPr>
                </a:tc>
                <a:tc>
                  <a:txBody>
                    <a:bodyPr wrap="square"/>
                    <a:lstStyle/>
                    <a:p>
                      <a:r>
                        <a:rPr sz="1300" b="0">
                          <a:solidFill>
                            <a:srgbClr val="E2E8F0"/>
                          </a:solidFill>
                        </a:rPr>
                        <a:t>shared 256→128</a:t>
                      </a:r>
                    </a:p>
                  </a:txBody>
                  <a:tcPr marL="73152" marR="73152" anchor="ctr">
                    <a:solidFill>
                      <a:srgbClr val="131C2E"/>
                    </a:solidFill>
                  </a:tcPr>
                </a:tc>
                <a:tc>
                  <a:txBody>
                    <a:bodyPr wrap="square"/>
                    <a:lstStyle/>
                    <a:p>
                      <a:r>
                        <a:rPr sz="1300" b="0">
                          <a:solidFill>
                            <a:srgbClr val="E2E8F0"/>
                          </a:solidFill>
                        </a:rPr>
                        <a:t>residual, split heads</a:t>
                      </a:r>
                    </a:p>
                  </a:txBody>
                  <a:tcPr marL="73152" marR="73152" anchor="ctr">
                    <a:solidFill>
                      <a:srgbClr val="131C2E"/>
                    </a:solidFill>
                  </a:tcPr>
                </a:tc>
              </a:tr>
              <a:tr h="457200">
                <a:tc>
                  <a:txBody>
                    <a:bodyPr wrap="square"/>
                    <a:lstStyle/>
                    <a:p>
                      <a:r>
                        <a:rPr sz="1300" b="0">
                          <a:solidFill>
                            <a:srgbClr val="E2E8F0"/>
                          </a:solidFill>
                        </a:rPr>
                        <a:t>Logit loss</a:t>
                      </a:r>
                    </a:p>
                  </a:txBody>
                  <a:tcPr marL="73152" marR="73152" anchor="ctr">
                    <a:solidFill>
                      <a:srgbClr val="0B1220"/>
                    </a:solidFill>
                  </a:tcPr>
                </a:tc>
                <a:tc>
                  <a:txBody>
                    <a:bodyPr wrap="square"/>
                    <a:lstStyle/>
                    <a:p>
                      <a:r>
                        <a:rPr sz="1300" b="0">
                          <a:solidFill>
                            <a:srgbClr val="E2E8F0"/>
                          </a:solidFill>
                        </a:rPr>
                        <a:t>bug (no from_logits)</a:t>
                      </a:r>
                    </a:p>
                  </a:txBody>
                  <a:tcPr marL="73152" marR="73152" anchor="ctr">
                    <a:solidFill>
                      <a:srgbClr val="0B1220"/>
                    </a:solidFill>
                  </a:tcPr>
                </a:tc>
                <a:tc>
                  <a:txBody>
                    <a:bodyPr wrap="square"/>
                    <a:lstStyle/>
                    <a:p>
                      <a:r>
                        <a:rPr sz="1300" b="0">
                          <a:solidFill>
                            <a:srgbClr val="E2E8F0"/>
                          </a:solidFill>
                        </a:rPr>
                        <a:t>fixed</a:t>
                      </a:r>
                    </a:p>
                  </a:txBody>
                  <a:tcPr marL="73152" marR="73152" anchor="ctr">
                    <a:solidFill>
                      <a:srgbClr val="0B1220"/>
                    </a:solidFill>
                  </a:tcPr>
                </a:tc>
              </a:tr>
              <a:tr h="457200">
                <a:tc>
                  <a:txBody>
                    <a:bodyPr wrap="square"/>
                    <a:lstStyle/>
                    <a:p>
                      <a:r>
                        <a:rPr sz="1300" b="0">
                          <a:solidFill>
                            <a:srgbClr val="E2E8F0"/>
                          </a:solidFill>
                        </a:rPr>
                        <a:t>Play</a:t>
                      </a:r>
                    </a:p>
                  </a:txBody>
                  <a:tcPr marL="73152" marR="73152" anchor="ctr">
                    <a:solidFill>
                      <a:srgbClr val="131C2E"/>
                    </a:solidFill>
                  </a:tcPr>
                </a:tc>
                <a:tc>
                  <a:txBody>
                    <a:bodyPr wrap="square"/>
                    <a:lstStyle/>
                    <a:p>
                      <a:r>
                        <a:rPr sz="1300" b="0">
                          <a:solidFill>
                            <a:srgbClr val="E2E8F0"/>
                          </a:solidFill>
                        </a:rPr>
                        <a:t>sample z ~ N(0,I)</a:t>
                      </a:r>
                    </a:p>
                  </a:txBody>
                  <a:tcPr marL="73152" marR="73152" anchor="ctr">
                    <a:solidFill>
                      <a:srgbClr val="131C2E"/>
                    </a:solidFill>
                  </a:tcPr>
                </a:tc>
                <a:tc>
                  <a:txBody>
                    <a:bodyPr wrap="square"/>
                    <a:lstStyle/>
                    <a:p>
                      <a:r>
                        <a:rPr sz="1300" b="1">
                          <a:solidFill>
                            <a:srgbClr val="67E8F9"/>
                          </a:solidFill>
                        </a:rPr>
                        <a:t>posterior ranking</a:t>
                      </a:r>
                    </a:p>
                  </a:txBody>
                  <a:tcPr marL="73152" marR="73152" anchor="ctr">
                    <a:solidFill>
                      <a:srgbClr val="131C2E"/>
                    </a:solidFill>
                  </a:tcPr>
                </a:tc>
              </a:tr>
            </a:tbl>
          </a:graphicData>
        </a:graphic>
      </p:graphicFrame>
      <p:sp>
        <p:nvSpPr>
          <p:cNvPr id="7" name="TextBox 6"/>
          <p:cNvSpPr txBox="1"/>
          <p:nvPr/>
        </p:nvSpPr>
        <p:spPr>
          <a:xfrm>
            <a:off x="502920" y="4480560"/>
            <a:ext cx="11247120" cy="2103120"/>
          </a:xfrm>
          <a:prstGeom prst="rect">
            <a:avLst/>
          </a:prstGeom>
          <a:noFill/>
        </p:spPr>
        <p:txBody>
          <a:bodyPr wrap="square">
            <a:spAutoFit/>
          </a:bodyPr>
          <a:lstStyle/>
          <a:p>
            <a:pPr>
              <a:spcAft>
                <a:spcPts val="800"/>
              </a:spcAft>
            </a:pPr>
            <a:r>
              <a:rPr sz="1800" b="0">
                <a:solidFill>
                  <a:srgbClr val="E2E8F0"/>
                </a:solidFill>
              </a:rPr>
              <a:t>•  Trained on </a:t>
            </a:r>
            <a:r>
              <a:rPr sz="1700" b="0">
                <a:solidFill>
                  <a:srgbClr val="E2E8F0"/>
                </a:solidFill>
                <a:latin typeface="Consolas"/>
              </a:rPr>
              <a:t>training_data_clean/</a:t>
            </a:r>
            <a:r>
              <a:rPr sz="1800" b="0">
                <a:solidFill>
                  <a:srgbClr val="E2E8F0"/>
                </a:solidFill>
              </a:rPr>
              <a:t>, 50 epochs: </a:t>
            </a:r>
            <a:r>
              <a:rPr sz="1800" b="1">
                <a:solidFill>
                  <a:srgbClr val="67E8F9"/>
                </a:solidFill>
              </a:rPr>
              <a:t>val piece-acc ≈ 1.0, rotation-acc ≈ 0.98</a:t>
            </a:r>
          </a:p>
          <a:p>
            <a:pPr>
              <a:spcAft>
                <a:spcPts val="800"/>
              </a:spcAft>
            </a:pPr>
            <a:r>
              <a:rPr sz="1800" b="0">
                <a:solidFill>
                  <a:srgbClr val="E2E8F0"/>
                </a:solidFill>
              </a:rPr>
              <a:t>•  It reconstructs demonstrated moves almost perfectly. That is necessary, and not sufficient.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Inference: prior sampling vs posterior ranking</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The v1 bug was a train/inference mismatch</a:t>
            </a:r>
          </a:p>
        </p:txBody>
      </p:sp>
      <p:graphicFrame>
        <p:nvGraphicFramePr>
          <p:cNvPr id="5" name="Table 4"/>
          <p:cNvGraphicFramePr>
            <a:graphicFrameLocks noGrp="1"/>
          </p:cNvGraphicFramePr>
          <p:nvPr/>
        </p:nvGraphicFramePr>
        <p:xfrm>
          <a:off x="502920" y="1463040"/>
          <a:ext cx="11155680" cy="2194560"/>
        </p:xfrm>
        <a:graphic>
          <a:graphicData uri="http://schemas.openxmlformats.org/drawingml/2006/table">
            <a:tbl>
              <a:tblPr firstRow="1" bandRow="1">
                <a:tableStyleId>{5C22544A-7EE6-4342-B048-85BDC9FD1C3A}</a:tableStyleId>
              </a:tblPr>
              <a:tblGrid>
                <a:gridCol w="1645920"/>
                <a:gridCol w="2560320"/>
                <a:gridCol w="3108960"/>
                <a:gridCol w="3840480"/>
              </a:tblGrid>
              <a:tr h="548640">
                <a:tc>
                  <a:txBody>
                    <a:bodyPr wrap="square"/>
                    <a:lstStyle/>
                    <a:p/>
                  </a:txBody>
                  <a:tcPr marL="73152" marR="73152" anchor="ctr">
                    <a:solidFill>
                      <a:srgbClr val="1E293B"/>
                    </a:solidFill>
                  </a:tcPr>
                </a:tc>
                <a:tc>
                  <a:txBody>
                    <a:bodyPr wrap="square"/>
                    <a:lstStyle/>
                    <a:p>
                      <a:r>
                        <a:rPr sz="1500" b="1">
                          <a:solidFill>
                            <a:srgbClr val="67E8F9"/>
                          </a:solidFill>
                        </a:rPr>
                        <a:t>Training</a:t>
                      </a:r>
                    </a:p>
                  </a:txBody>
                  <a:tcPr marL="73152" marR="73152" anchor="ctr">
                    <a:solidFill>
                      <a:srgbClr val="1E293B"/>
                    </a:solidFill>
                  </a:tcPr>
                </a:tc>
                <a:tc>
                  <a:txBody>
                    <a:bodyPr wrap="square"/>
                    <a:lstStyle/>
                    <a:p>
                      <a:r>
                        <a:rPr sz="1500" b="1">
                          <a:solidFill>
                            <a:srgbClr val="67E8F9"/>
                          </a:solidFill>
                        </a:rPr>
                        <a:t>v1 replay</a:t>
                      </a:r>
                    </a:p>
                  </a:txBody>
                  <a:tcPr marL="73152" marR="73152" anchor="ctr">
                    <a:solidFill>
                      <a:srgbClr val="1E293B"/>
                    </a:solidFill>
                  </a:tcPr>
                </a:tc>
                <a:tc>
                  <a:txBody>
                    <a:bodyPr wrap="square"/>
                    <a:lstStyle/>
                    <a:p>
                      <a:r>
                        <a:rPr sz="1500" b="1">
                          <a:solidFill>
                            <a:srgbClr val="67E8F9"/>
                          </a:solidFill>
                        </a:rPr>
                        <a:t>v2 replay</a:t>
                      </a:r>
                    </a:p>
                  </a:txBody>
                  <a:tcPr marL="73152" marR="73152" anchor="ctr">
                    <a:solidFill>
                      <a:srgbClr val="1E293B"/>
                    </a:solidFill>
                  </a:tcPr>
                </a:tc>
              </a:tr>
              <a:tr h="548640">
                <a:tc>
                  <a:txBody>
                    <a:bodyPr wrap="square"/>
                    <a:lstStyle/>
                    <a:p>
                      <a:r>
                        <a:rPr sz="1500" b="0">
                          <a:solidFill>
                            <a:srgbClr val="E2E8F0"/>
                          </a:solidFill>
                        </a:rPr>
                        <a:t>Source of z</a:t>
                      </a:r>
                    </a:p>
                  </a:txBody>
                  <a:tcPr marL="73152" marR="73152" anchor="ctr">
                    <a:solidFill>
                      <a:srgbClr val="131C2E"/>
                    </a:solidFill>
                  </a:tcPr>
                </a:tc>
                <a:tc>
                  <a:txBody>
                    <a:bodyPr wrap="square"/>
                    <a:lstStyle/>
                    <a:p>
                      <a:r>
                        <a:rPr sz="1500" b="0">
                          <a:solidFill>
                            <a:srgbClr val="E2E8F0"/>
                          </a:solidFill>
                        </a:rPr>
                        <a:t>q(z | board, true action)</a:t>
                      </a:r>
                    </a:p>
                  </a:txBody>
                  <a:tcPr marL="73152" marR="73152" anchor="ctr">
                    <a:solidFill>
                      <a:srgbClr val="131C2E"/>
                    </a:solidFill>
                  </a:tcPr>
                </a:tc>
                <a:tc>
                  <a:txBody>
                    <a:bodyPr wrap="square"/>
                    <a:lstStyle/>
                    <a:p>
                      <a:r>
                        <a:rPr sz="1500" b="0">
                          <a:solidFill>
                            <a:srgbClr val="E2E8F0"/>
                          </a:solidFill>
                        </a:rPr>
                        <a:t>random N(0, I)</a:t>
                      </a:r>
                    </a:p>
                  </a:txBody>
                  <a:tcPr marL="73152" marR="73152" anchor="ctr">
                    <a:solidFill>
                      <a:srgbClr val="131C2E"/>
                    </a:solidFill>
                  </a:tcPr>
                </a:tc>
                <a:tc>
                  <a:txBody>
                    <a:bodyPr wrap="square"/>
                    <a:lstStyle/>
                    <a:p>
                      <a:r>
                        <a:rPr sz="1500" b="0">
                          <a:solidFill>
                            <a:srgbClr val="E2E8F0"/>
                          </a:solidFill>
                        </a:rPr>
                        <a:t>q(z | board, candidate) mean</a:t>
                      </a:r>
                    </a:p>
                  </a:txBody>
                  <a:tcPr marL="73152" marR="73152" anchor="ctr">
                    <a:solidFill>
                      <a:srgbClr val="131C2E"/>
                    </a:solidFill>
                  </a:tcPr>
                </a:tc>
              </a:tr>
              <a:tr h="548640">
                <a:tc>
                  <a:txBody>
                    <a:bodyPr wrap="square"/>
                    <a:lstStyle/>
                    <a:p>
                      <a:r>
                        <a:rPr sz="1500" b="0">
                          <a:solidFill>
                            <a:srgbClr val="E2E8F0"/>
                          </a:solidFill>
                        </a:rPr>
                        <a:t>Action encoder</a:t>
                      </a:r>
                    </a:p>
                  </a:txBody>
                  <a:tcPr marL="73152" marR="73152" anchor="ctr">
                    <a:solidFill>
                      <a:srgbClr val="0B1220"/>
                    </a:solidFill>
                  </a:tcPr>
                </a:tc>
                <a:tc>
                  <a:txBody>
                    <a:bodyPr wrap="square"/>
                    <a:lstStyle/>
                    <a:p>
                      <a:r>
                        <a:rPr sz="1500" b="0">
                          <a:solidFill>
                            <a:srgbClr val="E2E8F0"/>
                          </a:solidFill>
                        </a:rPr>
                        <a:t>used</a:t>
                      </a:r>
                    </a:p>
                  </a:txBody>
                  <a:tcPr marL="73152" marR="73152" anchor="ctr">
                    <a:solidFill>
                      <a:srgbClr val="0B1220"/>
                    </a:solidFill>
                  </a:tcPr>
                </a:tc>
                <a:tc>
                  <a:txBody>
                    <a:bodyPr wrap="square"/>
                    <a:lstStyle/>
                    <a:p>
                      <a:r>
                        <a:rPr sz="1500" b="0">
                          <a:solidFill>
                            <a:srgbClr val="E2E8F0"/>
                          </a:solidFill>
                        </a:rPr>
                        <a:t>not loaded</a:t>
                      </a:r>
                    </a:p>
                  </a:txBody>
                  <a:tcPr marL="73152" marR="73152" anchor="ctr">
                    <a:solidFill>
                      <a:srgbClr val="0B1220"/>
                    </a:solidFill>
                  </a:tcPr>
                </a:tc>
                <a:tc>
                  <a:txBody>
                    <a:bodyPr wrap="square"/>
                    <a:lstStyle/>
                    <a:p>
                      <a:r>
                        <a:rPr sz="1500" b="0">
                          <a:solidFill>
                            <a:srgbClr val="E2E8F0"/>
                          </a:solidFill>
                        </a:rPr>
                        <a:t>used</a:t>
                      </a:r>
                    </a:p>
                  </a:txBody>
                  <a:tcPr marL="73152" marR="73152" anchor="ctr">
                    <a:solidFill>
                      <a:srgbClr val="0B1220"/>
                    </a:solidFill>
                  </a:tcPr>
                </a:tc>
              </a:tr>
              <a:tr h="548640">
                <a:tc>
                  <a:txBody>
                    <a:bodyPr wrap="square"/>
                    <a:lstStyle/>
                    <a:p>
                      <a:r>
                        <a:rPr sz="1500" b="0">
                          <a:solidFill>
                            <a:srgbClr val="E2E8F0"/>
                          </a:solidFill>
                        </a:rPr>
                        <a:t>Selection</a:t>
                      </a:r>
                    </a:p>
                  </a:txBody>
                  <a:tcPr marL="73152" marR="73152" anchor="ctr">
                    <a:solidFill>
                      <a:srgbClr val="131C2E"/>
                    </a:solidFill>
                  </a:tcPr>
                </a:tc>
                <a:tc>
                  <a:txBody>
                    <a:bodyPr wrap="square"/>
                    <a:lstStyle/>
                    <a:p>
                      <a:r>
                        <a:rPr sz="1500" b="0">
                          <a:solidFill>
                            <a:srgbClr val="E2E8F0"/>
                          </a:solidFill>
                        </a:rPr>
                        <a:t>supervised target</a:t>
                      </a:r>
                    </a:p>
                  </a:txBody>
                  <a:tcPr marL="73152" marR="73152" anchor="ctr">
                    <a:solidFill>
                      <a:srgbClr val="131C2E"/>
                    </a:solidFill>
                  </a:tcPr>
                </a:tc>
                <a:tc>
                  <a:txBody>
                    <a:bodyPr wrap="square"/>
                    <a:lstStyle/>
                    <a:p>
                      <a:r>
                        <a:rPr sz="1500" b="0">
                          <a:solidFill>
                            <a:srgbClr val="E2E8F0"/>
                          </a:solidFill>
                        </a:rPr>
                        <a:t>sample → decode → snap → recon err</a:t>
                      </a:r>
                    </a:p>
                  </a:txBody>
                  <a:tcPr marL="73152" marR="73152" anchor="ctr">
                    <a:solidFill>
                      <a:srgbClr val="131C2E"/>
                    </a:solidFill>
                  </a:tcPr>
                </a:tc>
                <a:tc>
                  <a:txBody>
                    <a:bodyPr wrap="square"/>
                    <a:lstStyle/>
                    <a:p>
                      <a:r>
                        <a:rPr sz="1500" b="1">
                          <a:solidFill>
                            <a:srgbClr val="67E8F9"/>
                          </a:solidFill>
                        </a:rPr>
                        <a:t>enumerate every legal pose → lowest recon loss</a:t>
                      </a:r>
                    </a:p>
                  </a:txBody>
                  <a:tcPr marL="73152" marR="73152" anchor="ctr">
                    <a:solidFill>
                      <a:srgbClr val="131C2E"/>
                    </a:solidFill>
                  </a:tcPr>
                </a:tc>
              </a:tr>
            </a:tbl>
          </a:graphicData>
        </a:graphic>
      </p:graphicFrame>
      <p:sp>
        <p:nvSpPr>
          <p:cNvPr id="6" name="Rounded Rectangle 5"/>
          <p:cNvSpPr/>
          <p:nvPr/>
        </p:nvSpPr>
        <p:spPr>
          <a:xfrm>
            <a:off x="502920" y="3931920"/>
            <a:ext cx="6766560" cy="237744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300">
                <a:solidFill>
                  <a:srgbClr val="E2E8F0"/>
                </a:solidFill>
                <a:latin typeface="Consolas"/>
              </a:rPr>
              <a:t>for cand in get_valid_placements(board, piece):</a:t>
            </a:r>
          </a:p>
          <a:p>
            <a:pPr algn="l"/>
            <a:r>
              <a:rPr sz="1300">
                <a:solidFill>
                  <a:srgbClr val="E2E8F0"/>
                </a:solidFill>
                <a:latin typeface="Consolas"/>
              </a:rPr>
              <a:t>    z_mean = encode(board_feat, action(cand))</a:t>
            </a:r>
          </a:p>
          <a:p>
            <a:pPr algn="l"/>
            <a:r>
              <a:rPr sz="1300">
                <a:solidFill>
                  <a:srgbClr val="E2E8F0"/>
                </a:solidFill>
                <a:latin typeface="Consolas"/>
              </a:rPr>
              <a:t>    pred   = decode(board_feat, z_mean, piece)</a:t>
            </a:r>
          </a:p>
          <a:p>
            <a:pPr algn="l"/>
            <a:r>
              <a:rPr sz="1300">
                <a:solidFill>
                  <a:srgbClr val="E2E8F0"/>
                </a:solidFill>
                <a:latin typeface="Consolas"/>
              </a:rPr>
              <a:t>    score  = recon_loss(pred, cand)   # lower = teacher-like</a:t>
            </a:r>
          </a:p>
          <a:p>
            <a:pPr algn="l"/>
            <a:r>
              <a:rPr sz="1300">
                <a:solidFill>
                  <a:srgbClr val="E2E8F0"/>
                </a:solidFill>
                <a:latin typeface="Consolas"/>
              </a:rPr>
              <a:t>play argmin(score)          # optional −line-clear bonus</a:t>
            </a:r>
          </a:p>
        </p:txBody>
      </p:sp>
      <p:sp>
        <p:nvSpPr>
          <p:cNvPr id="7" name="Rounded Rectangle 6"/>
          <p:cNvSpPr/>
          <p:nvPr/>
        </p:nvSpPr>
        <p:spPr>
          <a:xfrm>
            <a:off x="7498079" y="3931920"/>
            <a:ext cx="4206240" cy="2377440"/>
          </a:xfrm>
          <a:prstGeom prst="roundRect">
            <a:avLst>
              <a:gd name="adj" fmla="val 12000"/>
            </a:avLst>
          </a:prstGeom>
          <a:solidFill>
            <a:srgbClr val="131C2E"/>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0">
                <a:solidFill>
                  <a:srgbClr val="E2E8F0"/>
                </a:solidFill>
              </a:rPr>
              <a:t>v2's inference is </a:t>
            </a:r>
            <a:r>
              <a:rPr sz="1800" b="1">
                <a:solidFill>
                  <a:srgbClr val="67E8F9"/>
                </a:solidFill>
              </a:rPr>
              <a:t>correct</a:t>
            </a:r>
            <a:r>
              <a:rPr sz="1800" b="0">
                <a:solidFill>
                  <a:srgbClr val="E2E8F0"/>
                </a:solidFill>
              </a:rPr>
              <a:t>, but it answers "which move looks most like the teacher?", not "which move is </a:t>
            </a:r>
            <a:r>
              <a:rPr sz="1800" b="1">
                <a:solidFill>
                  <a:srgbClr val="67E8F9"/>
                </a:solidFill>
              </a:rPr>
              <a:t>good</a:t>
            </a:r>
            <a:r>
              <a:rPr sz="1800" b="0">
                <a:solidFill>
                  <a:srgbClr val="E2E8F0"/>
                </a:solidFill>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VAE in action: it misses a free line clear</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Shipped models, scenario almost_line, piece I</a:t>
            </a:r>
          </a:p>
        </p:txBody>
      </p:sp>
      <p:pic>
        <p:nvPicPr>
          <p:cNvPr id="5" name="Picture 4" descr="picks_almost_line_I.png"/>
          <p:cNvPicPr>
            <a:picLocks noChangeAspect="1"/>
          </p:cNvPicPr>
          <p:nvPr/>
        </p:nvPicPr>
        <p:blipFill>
          <a:blip r:embed="rId3"/>
          <a:stretch>
            <a:fillRect/>
          </a:stretch>
        </p:blipFill>
        <p:spPr>
          <a:xfrm>
            <a:off x="502920" y="1653027"/>
            <a:ext cx="7315200" cy="4740666"/>
          </a:xfrm>
          <a:prstGeom prst="rect">
            <a:avLst/>
          </a:prstGeom>
        </p:spPr>
      </p:pic>
      <p:sp>
        <p:nvSpPr>
          <p:cNvPr id="6" name="TextBox 5"/>
          <p:cNvSpPr txBox="1"/>
          <p:nvPr/>
        </p:nvSpPr>
        <p:spPr>
          <a:xfrm>
            <a:off x="8046720" y="1554480"/>
            <a:ext cx="3931920" cy="5120640"/>
          </a:xfrm>
          <a:prstGeom prst="rect">
            <a:avLst/>
          </a:prstGeom>
          <a:noFill/>
        </p:spPr>
        <p:txBody>
          <a:bodyPr wrap="square">
            <a:spAutoFit/>
          </a:bodyPr>
          <a:lstStyle/>
          <a:p>
            <a:pPr>
              <a:spcAft>
                <a:spcPts val="1000"/>
              </a:spcAft>
            </a:pPr>
            <a:r>
              <a:rPr sz="1600" b="0">
                <a:solidFill>
                  <a:srgbClr val="E2E8F0"/>
                </a:solidFill>
              </a:rPr>
              <a:t>•  VAE picks a centered vertical I: </a:t>
            </a:r>
            <a:r>
              <a:rPr sz="1600" b="1">
                <a:solidFill>
                  <a:srgbClr val="67E8F9"/>
                </a:solidFill>
              </a:rPr>
              <a:t>0 lines</a:t>
            </a:r>
          </a:p>
          <a:p>
            <a:pPr>
              <a:spcAft>
                <a:spcPts val="1000"/>
              </a:spcAft>
            </a:pPr>
            <a:r>
              <a:rPr sz="1600" b="0">
                <a:solidFill>
                  <a:srgbClr val="E2E8F0"/>
                </a:solidFill>
              </a:rPr>
              <a:t>•  GAN and transformer drop into column 9: </a:t>
            </a:r>
            <a:r>
              <a:rPr sz="1600" b="1">
                <a:solidFill>
                  <a:srgbClr val="67E8F9"/>
                </a:solidFill>
              </a:rPr>
              <a:t>1 line</a:t>
            </a:r>
          </a:p>
          <a:p>
            <a:pPr>
              <a:spcAft>
                <a:spcPts val="1000"/>
              </a:spcAft>
            </a:pPr>
            <a:r>
              <a:rPr sz="1600" b="0">
                <a:solidFill>
                  <a:srgbClr val="E2E8F0"/>
                </a:solidFill>
              </a:rPr>
              <a:t>•  The teacher's *typical* I-placement (flat, centered) outvotes the rare, correct one</a:t>
            </a:r>
          </a:p>
          <a:p>
            <a:pPr>
              <a:spcAft>
                <a:spcPts val="1000"/>
              </a:spcAft>
            </a:pPr>
            <a:r>
              <a:rPr sz="1600" b="0">
                <a:solidFill>
                  <a:srgbClr val="E2E8F0"/>
                </a:solidFill>
              </a:rPr>
              <a:t>•  On </a:t>
            </a:r>
            <a:r>
              <a:rPr sz="1500" b="0">
                <a:solidFill>
                  <a:srgbClr val="E2E8F0"/>
                </a:solidFill>
                <a:latin typeface="Consolas"/>
              </a:rPr>
              <a:t>right_well</a:t>
            </a:r>
            <a:r>
              <a:rPr sz="1600" b="0">
                <a:solidFill>
                  <a:srgbClr val="E2E8F0"/>
                </a:solidFill>
              </a:rPr>
              <a:t> all three find the Tetris; the gap shows on boards where the right move is unusual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Result: 0 lines, behavioral-cloning covariate shift</a:t>
            </a:r>
          </a:p>
        </p:txBody>
      </p:sp>
      <p:sp>
        <p:nvSpPr>
          <p:cNvPr id="4" name="TextBox 3"/>
          <p:cNvSpPr txBox="1"/>
          <p:nvPr/>
        </p:nvSpPr>
        <p:spPr>
          <a:xfrm>
            <a:off x="502920" y="1463040"/>
            <a:ext cx="6400800" cy="5120640"/>
          </a:xfrm>
          <a:prstGeom prst="rect">
            <a:avLst/>
          </a:prstGeom>
          <a:noFill/>
        </p:spPr>
        <p:txBody>
          <a:bodyPr wrap="square">
            <a:spAutoFit/>
          </a:bodyPr>
          <a:lstStyle/>
          <a:p>
            <a:pPr>
              <a:spcAft>
                <a:spcPts val="900"/>
              </a:spcAft>
            </a:pPr>
            <a:r>
              <a:rPr sz="1800" b="0">
                <a:solidFill>
                  <a:srgbClr val="E2E8F0"/>
                </a:solidFill>
              </a:rPr>
              <a:t>•  Near-perfect reconstruction, </a:t>
            </a:r>
            <a:r>
              <a:rPr sz="1800" b="1">
                <a:solidFill>
                  <a:srgbClr val="67E8F9"/>
                </a:solidFill>
              </a:rPr>
              <a:t>0 lines in play</a:t>
            </a:r>
          </a:p>
          <a:p>
            <a:pPr>
              <a:spcAft>
                <a:spcPts val="900"/>
              </a:spcAft>
            </a:pPr>
            <a:r>
              <a:rPr sz="1800" b="0">
                <a:solidFill>
                  <a:srgbClr val="E2E8F0"/>
                </a:solidFill>
              </a:rPr>
              <a:t>•  Imitation has </a:t>
            </a:r>
            <a:r>
              <a:rPr sz="1800" b="1">
                <a:solidFill>
                  <a:srgbClr val="67E8F9"/>
                </a:solidFill>
              </a:rPr>
              <a:t>no notion of board value</a:t>
            </a:r>
          </a:p>
          <a:p>
            <a:pPr lvl="1">
              <a:spcAft>
                <a:spcPts val="900"/>
              </a:spcAft>
            </a:pPr>
            <a:r>
              <a:rPr sz="1600" b="0">
                <a:solidFill>
                  <a:srgbClr val="94A3B8"/>
                </a:solidFill>
              </a:rPr>
              <a:t>–  Small deviations push the board off the training distribution (center stacking, holes)</a:t>
            </a:r>
          </a:p>
          <a:p>
            <a:pPr lvl="1">
              <a:spcAft>
                <a:spcPts val="900"/>
              </a:spcAft>
            </a:pPr>
            <a:r>
              <a:rPr sz="1600" b="0">
                <a:solidFill>
                  <a:srgbClr val="94A3B8"/>
                </a:solidFill>
              </a:rPr>
              <a:t>–  Off-distribution, placements degrade further: a compounding loop</a:t>
            </a:r>
          </a:p>
          <a:p>
            <a:pPr>
              <a:spcAft>
                <a:spcPts val="900"/>
              </a:spcAft>
            </a:pPr>
            <a:r>
              <a:rPr sz="1800" b="0">
                <a:solidFill>
                  <a:srgbClr val="E2E8F0"/>
                </a:solidFill>
              </a:rPr>
              <a:t>•  Instrumented: at every step, the </a:t>
            </a:r>
            <a:r>
              <a:rPr sz="1800" b="1">
                <a:solidFill>
                  <a:srgbClr val="67E8F9"/>
                </a:solidFill>
              </a:rPr>
              <a:t>best achievable</a:t>
            </a:r>
            <a:r>
              <a:rPr sz="1800" b="0">
                <a:solidFill>
                  <a:srgbClr val="E2E8F0"/>
                </a:solidFill>
              </a:rPr>
              <a:t> clear over all legal moves was </a:t>
            </a:r>
            <a:r>
              <a:rPr sz="1800" b="1">
                <a:solidFill>
                  <a:srgbClr val="67E8F9"/>
                </a:solidFill>
              </a:rPr>
              <a:t>0</a:t>
            </a:r>
          </a:p>
          <a:p>
            <a:pPr lvl="1">
              <a:spcAft>
                <a:spcPts val="900"/>
              </a:spcAft>
            </a:pPr>
            <a:r>
              <a:rPr sz="1600" b="0">
                <a:solidFill>
                  <a:srgbClr val="94A3B8"/>
                </a:solidFill>
              </a:rPr>
              <a:t>–  No reward knob can help when no clearable row ever forms</a:t>
            </a:r>
          </a:p>
          <a:p>
            <a:pPr lvl="1">
              <a:spcAft>
                <a:spcPts val="900"/>
              </a:spcAft>
            </a:pPr>
            <a:r>
              <a:rPr sz="1600" b="0">
                <a:solidFill>
                  <a:srgbClr val="94A3B8"/>
                </a:solidFill>
              </a:rPr>
              <a:t>–  Line-clear bonus 3 → 15 and removing the low-stack filter: no change</a:t>
            </a:r>
          </a:p>
        </p:txBody>
      </p:sp>
      <p:sp>
        <p:nvSpPr>
          <p:cNvPr id="5" name="Rounded Rectangle 4"/>
          <p:cNvSpPr/>
          <p:nvPr/>
        </p:nvSpPr>
        <p:spPr>
          <a:xfrm>
            <a:off x="7223760" y="1828800"/>
            <a:ext cx="4480560" cy="1463040"/>
          </a:xfrm>
          <a:prstGeom prst="roundRect">
            <a:avLst>
              <a:gd name="adj" fmla="val 12000"/>
            </a:avLst>
          </a:prstGeom>
          <a:solidFill>
            <a:srgbClr val="131C2E"/>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200" b="1">
                <a:solidFill>
                  <a:srgbClr val="67E8F9"/>
                </a:solidFill>
              </a:rPr>
              <a:t>Reconstruction accuracy ≠ good play</a:t>
            </a:r>
          </a:p>
        </p:txBody>
      </p:sp>
      <p:sp>
        <p:nvSpPr>
          <p:cNvPr id="6" name="Rounded Rectangle 5"/>
          <p:cNvSpPr/>
          <p:nvPr/>
        </p:nvSpPr>
        <p:spPr>
          <a:xfrm>
            <a:off x="7223760" y="3657600"/>
            <a:ext cx="4480560" cy="2011680"/>
          </a:xfrm>
          <a:prstGeom prst="roundRect">
            <a:avLst>
              <a:gd name="adj" fmla="val 12000"/>
            </a:avLst>
          </a:prstGeom>
          <a:solidFill>
            <a:srgbClr val="131C2E"/>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0">
                <a:solidFill>
                  <a:srgbClr val="E2E8F0"/>
                </a:solidFill>
              </a:rPr>
              <a:t>What's missing is a </a:t>
            </a:r>
            <a:r>
              <a:rPr sz="1800" b="1">
                <a:solidFill>
                  <a:srgbClr val="67E8F9"/>
                </a:solidFill>
              </a:rPr>
              <a:t>value signal</a:t>
            </a:r>
            <a:r>
              <a:rPr sz="1800" b="0">
                <a:solidFill>
                  <a:srgbClr val="E2E8F0"/>
                </a:solidFill>
              </a:rPr>
              <a:t>: something that knows a line clear is good and a hole is bad. → the GAN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Notebook 01 guide: VAE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notebooks/01_vae_training_and_solver.ipynb</a:t>
            </a:r>
          </a:p>
        </p:txBody>
      </p:sp>
      <p:graphicFrame>
        <p:nvGraphicFramePr>
          <p:cNvPr id="5" name="Table 4"/>
          <p:cNvGraphicFramePr>
            <a:graphicFrameLocks noGrp="1"/>
          </p:cNvGraphicFramePr>
          <p:nvPr/>
        </p:nvGraphicFramePr>
        <p:xfrm>
          <a:off x="502920" y="1463040"/>
          <a:ext cx="11155680" cy="4535424"/>
        </p:xfrm>
        <a:graphic>
          <a:graphicData uri="http://schemas.openxmlformats.org/drawingml/2006/table">
            <a:tbl>
              <a:tblPr firstRow="1" bandRow="1">
                <a:tableStyleId>{5C22544A-7EE6-4342-B048-85BDC9FD1C3A}</a:tableStyleId>
              </a:tblPr>
              <a:tblGrid>
                <a:gridCol w="2011680"/>
                <a:gridCol w="4572000"/>
                <a:gridCol w="4572000"/>
              </a:tblGrid>
              <a:tr h="566928">
                <a:tc>
                  <a:txBody>
                    <a:bodyPr wrap="square"/>
                    <a:lstStyle/>
                    <a:p>
                      <a:r>
                        <a:rPr sz="1400" b="1">
                          <a:solidFill>
                            <a:srgbClr val="67E8F9"/>
                          </a:solidFill>
                        </a:rPr>
                        <a:t>Section</a:t>
                      </a:r>
                    </a:p>
                  </a:txBody>
                  <a:tcPr marL="73152" marR="73152" anchor="ctr">
                    <a:solidFill>
                      <a:srgbClr val="1E293B"/>
                    </a:solidFill>
                  </a:tcPr>
                </a:tc>
                <a:tc>
                  <a:txBody>
                    <a:bodyPr wrap="square"/>
                    <a:lstStyle/>
                    <a:p>
                      <a:r>
                        <a:rPr sz="1400" b="1">
                          <a:solidFill>
                            <a:srgbClr val="67E8F9"/>
                          </a:solidFill>
                        </a:rPr>
                        <a:t>What to show</a:t>
                      </a:r>
                    </a:p>
                  </a:txBody>
                  <a:tcPr marL="73152" marR="73152" anchor="ctr">
                    <a:solidFill>
                      <a:srgbClr val="1E293B"/>
                    </a:solidFill>
                  </a:tcPr>
                </a:tc>
                <a:tc>
                  <a:txBody>
                    <a:bodyPr wrap="square"/>
                    <a:lstStyle/>
                    <a:p>
                      <a:r>
                        <a:rPr sz="1400" b="1">
                          <a:solidFill>
                            <a:srgbClr val="67E8F9"/>
                          </a:solidFill>
                        </a:rPr>
                        <a:t>Talking point</a:t>
                      </a:r>
                    </a:p>
                  </a:txBody>
                  <a:tcPr marL="73152" marR="73152" anchor="ctr">
                    <a:solidFill>
                      <a:srgbClr val="1E293B"/>
                    </a:solidFill>
                  </a:tcPr>
                </a:tc>
              </a:tr>
              <a:tr h="566928">
                <a:tc>
                  <a:txBody>
                    <a:bodyPr wrap="square"/>
                    <a:lstStyle/>
                    <a:p>
                      <a:r>
                        <a:rPr sz="1400" b="0">
                          <a:solidFill>
                            <a:srgbClr val="E2E8F0"/>
                          </a:solidFill>
                        </a:rPr>
                        <a:t>2. Teaching data</a:t>
                      </a:r>
                    </a:p>
                  </a:txBody>
                  <a:tcPr marL="73152" marR="73152" anchor="ctr">
                    <a:solidFill>
                      <a:srgbClr val="131C2E"/>
                    </a:solidFill>
                  </a:tcPr>
                </a:tc>
                <a:tc>
                  <a:txBody>
                    <a:bodyPr wrap="square"/>
                    <a:lstStyle/>
                    <a:p>
                      <a:r>
                        <a:rPr sz="1400" b="0">
                          <a:solidFill>
                            <a:srgbClr val="E2E8F0"/>
                          </a:solidFill>
                        </a:rPr>
                        <a:t>Real game board before move 12; label histograms</a:t>
                      </a:r>
                    </a:p>
                  </a:txBody>
                  <a:tcPr marL="73152" marR="73152" anchor="ctr">
                    <a:solidFill>
                      <a:srgbClr val="131C2E"/>
                    </a:solidFill>
                  </a:tcPr>
                </a:tc>
                <a:tc>
                  <a:txBody>
                    <a:bodyPr wrap="square"/>
                    <a:lstStyle/>
                    <a:p>
                      <a:r>
                        <a:rPr sz="1400" b="0">
                          <a:solidFill>
                            <a:srgbClr val="E2E8F0"/>
                          </a:solidFill>
                        </a:rPr>
                        <a:t>Data is strong and clean</a:t>
                      </a:r>
                    </a:p>
                  </a:txBody>
                  <a:tcPr marL="73152" marR="73152" anchor="ctr">
                    <a:solidFill>
                      <a:srgbClr val="131C2E"/>
                    </a:solidFill>
                  </a:tcPr>
                </a:tc>
              </a:tr>
              <a:tr h="566928">
                <a:tc>
                  <a:txBody>
                    <a:bodyPr wrap="square"/>
                    <a:lstStyle/>
                    <a:p>
                      <a:r>
                        <a:rPr sz="1400" b="0">
                          <a:solidFill>
                            <a:srgbClr val="E2E8F0"/>
                          </a:solidFill>
                        </a:rPr>
                        <a:t>3. Architecture</a:t>
                      </a:r>
                    </a:p>
                  </a:txBody>
                  <a:tcPr marL="73152" marR="73152" anchor="ctr">
                    <a:solidFill>
                      <a:srgbClr val="0B1220"/>
                    </a:solidFill>
                  </a:tcPr>
                </a:tc>
                <a:tc>
                  <a:txBody>
                    <a:bodyPr wrap="square"/>
                    <a:lstStyle/>
                    <a:p>
                      <a:r>
                        <a:rPr sz="1400" b="0">
                          <a:solidFill>
                            <a:srgbClr val="E2E8F0"/>
                          </a:solidFill>
                        </a:rPr>
                        <a:t>board_encoder.summary()</a:t>
                      </a:r>
                    </a:p>
                  </a:txBody>
                  <a:tcPr marL="73152" marR="73152" anchor="ctr">
                    <a:solidFill>
                      <a:srgbClr val="0B1220"/>
                    </a:solidFill>
                  </a:tcPr>
                </a:tc>
                <a:tc>
                  <a:txBody>
                    <a:bodyPr wrap="square"/>
                    <a:lstStyle/>
                    <a:p>
                      <a:r>
                        <a:rPr sz="1400" b="0">
                          <a:solidFill>
                            <a:srgbClr val="E2E8F0"/>
                          </a:solidFill>
                        </a:rPr>
                        <a:t>Strided convs keep spatial layout</a:t>
                      </a:r>
                    </a:p>
                  </a:txBody>
                  <a:tcPr marL="73152" marR="73152" anchor="ctr">
                    <a:solidFill>
                      <a:srgbClr val="0B1220"/>
                    </a:solidFill>
                  </a:tcPr>
                </a:tc>
              </a:tr>
              <a:tr h="566928">
                <a:tc>
                  <a:txBody>
                    <a:bodyPr wrap="square"/>
                    <a:lstStyle/>
                    <a:p>
                      <a:r>
                        <a:rPr sz="1400" b="0">
                          <a:solidFill>
                            <a:srgbClr val="E2E8F0"/>
                          </a:solidFill>
                        </a:rPr>
                        <a:t>6. Lab</a:t>
                      </a:r>
                    </a:p>
                  </a:txBody>
                  <a:tcPr marL="73152" marR="73152" anchor="ctr">
                    <a:solidFill>
                      <a:srgbClr val="131C2E"/>
                    </a:solidFill>
                  </a:tcPr>
                </a:tc>
                <a:tc>
                  <a:txBody>
                    <a:bodyPr wrap="square"/>
                    <a:lstStyle/>
                    <a:p>
                      <a:r>
                        <a:rPr sz="1400" b="0">
                          <a:solidFill>
                            <a:srgbClr val="E2E8F0"/>
                          </a:solidFill>
                        </a:rPr>
                        <a:t>PIECE / SCENARIO; count of legal placements</a:t>
                      </a:r>
                    </a:p>
                  </a:txBody>
                  <a:tcPr marL="73152" marR="73152" anchor="ctr">
                    <a:solidFill>
                      <a:srgbClr val="131C2E"/>
                    </a:solidFill>
                  </a:tcPr>
                </a:tc>
                <a:tc>
                  <a:txBody>
                    <a:bodyPr wrap="square"/>
                    <a:lstStyle/>
                    <a:p>
                      <a:r>
                        <a:rPr sz="1400" b="0">
                          <a:solidFill>
                            <a:srgbClr val="E2E8F0"/>
                          </a:solidFill>
                        </a:rPr>
                        <a:t>BFS candidate set</a:t>
                      </a:r>
                    </a:p>
                  </a:txBody>
                  <a:tcPr marL="73152" marR="73152" anchor="ctr">
                    <a:solidFill>
                      <a:srgbClr val="131C2E"/>
                    </a:solidFill>
                  </a:tcPr>
                </a:tc>
              </a:tr>
              <a:tr h="566928">
                <a:tc>
                  <a:txBody>
                    <a:bodyPr wrap="square"/>
                    <a:lstStyle/>
                    <a:p>
                      <a:r>
                        <a:rPr sz="1400" b="0">
                          <a:solidFill>
                            <a:srgbClr val="E2E8F0"/>
                          </a:solidFill>
                        </a:rPr>
                        <a:t>7. CNN activations</a:t>
                      </a:r>
                    </a:p>
                  </a:txBody>
                  <a:tcPr marL="73152" marR="73152" anchor="ctr">
                    <a:solidFill>
                      <a:srgbClr val="0B1220"/>
                    </a:solidFill>
                  </a:tcPr>
                </a:tc>
                <a:tc>
                  <a:txBody>
                    <a:bodyPr wrap="square"/>
                    <a:lstStyle/>
                    <a:p>
                      <a:r>
                        <a:rPr sz="1400" b="0">
                          <a:solidFill>
                            <a:srgbClr val="E2E8F0"/>
                          </a:solidFill>
                        </a:rPr>
                        <a:t>Feature maps per conv layer</a:t>
                      </a:r>
                    </a:p>
                  </a:txBody>
                  <a:tcPr marL="73152" marR="73152" anchor="ctr">
                    <a:solidFill>
                      <a:srgbClr val="0B1220"/>
                    </a:solidFill>
                  </a:tcPr>
                </a:tc>
                <a:tc>
                  <a:txBody>
                    <a:bodyPr wrap="square"/>
                    <a:lstStyle/>
                    <a:p>
                      <a:r>
                        <a:rPr sz="1400" b="0">
                          <a:solidFill>
                            <a:srgbClr val="E2E8F0"/>
                          </a:solidFill>
                        </a:rPr>
                        <a:t>The CNN does see occupancy, wells, rows</a:t>
                      </a:r>
                    </a:p>
                  </a:txBody>
                  <a:tcPr marL="73152" marR="73152" anchor="ctr">
                    <a:solidFill>
                      <a:srgbClr val="0B1220"/>
                    </a:solidFill>
                  </a:tcPr>
                </a:tc>
              </a:tr>
              <a:tr h="566928">
                <a:tc>
                  <a:txBody>
                    <a:bodyPr wrap="square"/>
                    <a:lstStyle/>
                    <a:p>
                      <a:r>
                        <a:rPr sz="1400" b="0">
                          <a:solidFill>
                            <a:srgbClr val="E2E8F0"/>
                          </a:solidFill>
                        </a:rPr>
                        <a:t>8. Posterior ranking</a:t>
                      </a:r>
                    </a:p>
                  </a:txBody>
                  <a:tcPr marL="73152" marR="73152" anchor="ctr">
                    <a:solidFill>
                      <a:srgbClr val="131C2E"/>
                    </a:solidFill>
                  </a:tcPr>
                </a:tc>
                <a:tc>
                  <a:txBody>
                    <a:bodyPr wrap="square"/>
                    <a:lstStyle/>
                    <a:p>
                      <a:r>
                        <a:rPr sz="1400" b="0">
                          <a:solidFill>
                            <a:srgbClr val="E2E8F0"/>
                          </a:solidFill>
                        </a:rPr>
                        <a:t>Ranked table + recon-loss heatmap</a:t>
                      </a:r>
                    </a:p>
                  </a:txBody>
                  <a:tcPr marL="73152" marR="73152" anchor="ctr">
                    <a:solidFill>
                      <a:srgbClr val="131C2E"/>
                    </a:solidFill>
                  </a:tcPr>
                </a:tc>
                <a:tc>
                  <a:txBody>
                    <a:bodyPr wrap="square"/>
                    <a:lstStyle/>
                    <a:p>
                      <a:r>
                        <a:rPr sz="1400" b="0">
                          <a:solidFill>
                            <a:srgbClr val="E2E8F0"/>
                          </a:solidFill>
                        </a:rPr>
                        <a:t>Is the lowest recon the line clear? Often not</a:t>
                      </a:r>
                    </a:p>
                  </a:txBody>
                  <a:tcPr marL="73152" marR="73152" anchor="ctr">
                    <a:solidFill>
                      <a:srgbClr val="131C2E"/>
                    </a:solidFill>
                  </a:tcPr>
                </a:tc>
              </a:tr>
              <a:tr h="566928">
                <a:tc>
                  <a:txBody>
                    <a:bodyPr wrap="square"/>
                    <a:lstStyle/>
                    <a:p>
                      <a:r>
                        <a:rPr sz="1400" b="0">
                          <a:solidFill>
                            <a:srgbClr val="E2E8F0"/>
                          </a:solidFill>
                        </a:rPr>
                        <a:t>9–10. Latent z</a:t>
                      </a:r>
                    </a:p>
                  </a:txBody>
                  <a:tcPr marL="73152" marR="73152" anchor="ctr">
                    <a:solidFill>
                      <a:srgbClr val="0B1220"/>
                    </a:solidFill>
                  </a:tcPr>
                </a:tc>
                <a:tc>
                  <a:txBody>
                    <a:bodyPr wrap="square"/>
                    <a:lstStyle/>
                    <a:p>
                      <a:r>
                        <a:rPr sz="1400" b="0">
                          <a:solidFill>
                            <a:srgbClr val="E2E8F0"/>
                          </a:solidFill>
                        </a:rPr>
                        <a:t>z grid, std per dim, PCA by column; 1-D sweep</a:t>
                      </a:r>
                    </a:p>
                  </a:txBody>
                  <a:tcPr marL="73152" marR="73152" anchor="ctr">
                    <a:solidFill>
                      <a:srgbClr val="0B1220"/>
                    </a:solidFill>
                  </a:tcPr>
                </a:tc>
                <a:tc>
                  <a:txBody>
                    <a:bodyPr wrap="square"/>
                    <a:lstStyle/>
                    <a:p>
                      <a:r>
                        <a:rPr sz="1400" b="0">
                          <a:solidFill>
                            <a:srgbClr val="E2E8F0"/>
                          </a:solidFill>
                        </a:rPr>
                        <a:t>Latent organizes *where*, not *how good*</a:t>
                      </a:r>
                    </a:p>
                  </a:txBody>
                  <a:tcPr marL="73152" marR="73152" anchor="ctr">
                    <a:solidFill>
                      <a:srgbClr val="0B1220"/>
                    </a:solidFill>
                  </a:tcPr>
                </a:tc>
              </a:tr>
              <a:tr h="566928">
                <a:tc>
                  <a:txBody>
                    <a:bodyPr wrap="square"/>
                    <a:lstStyle/>
                    <a:p>
                      <a:r>
                        <a:rPr sz="1400" b="0">
                          <a:solidFill>
                            <a:srgbClr val="E2E8F0"/>
                          </a:solidFill>
                        </a:rPr>
                        <a:t>11. Solver step</a:t>
                      </a:r>
                    </a:p>
                  </a:txBody>
                  <a:tcPr marL="73152" marR="73152" anchor="ctr">
                    <a:solidFill>
                      <a:srgbClr val="131C2E"/>
                    </a:solidFill>
                  </a:tcPr>
                </a:tc>
                <a:tc>
                  <a:txBody>
                    <a:bodyPr wrap="square"/>
                    <a:lstStyle/>
                    <a:p>
                      <a:r>
                        <a:rPr sz="1400" b="0">
                          <a:solidFill>
                            <a:srgbClr val="E2E8F0"/>
                          </a:solidFill>
                        </a:rPr>
                        <a:t>VAE pick vs line-clear oracle</a:t>
                      </a:r>
                    </a:p>
                  </a:txBody>
                  <a:tcPr marL="73152" marR="73152" anchor="ctr">
                    <a:solidFill>
                      <a:srgbClr val="131C2E"/>
                    </a:solidFill>
                  </a:tcPr>
                </a:tc>
                <a:tc>
                  <a:txBody>
                    <a:bodyPr wrap="square"/>
                    <a:lstStyle/>
                    <a:p>
                      <a:r>
                        <a:rPr sz="1400" b="0">
                          <a:solidFill>
                            <a:srgbClr val="E2E8F0"/>
                          </a:solidFill>
                        </a:rPr>
                        <a:t>Same move? On almost_line, no</a:t>
                      </a:r>
                    </a:p>
                  </a:txBody>
                  <a:tcPr marL="73152" marR="73152" anchor="ctr">
                    <a:solidFill>
                      <a:srgbClr val="131C2E"/>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822960" y="2011680"/>
            <a:ext cx="10058400" cy="548640"/>
          </a:xfrm>
          <a:prstGeom prst="rect">
            <a:avLst/>
          </a:prstGeom>
          <a:noFill/>
        </p:spPr>
        <p:txBody>
          <a:bodyPr wrap="square" anchor="t">
            <a:spAutoFit/>
          </a:bodyPr>
          <a:lstStyle/>
          <a:p>
            <a:pPr algn="l"/>
            <a:r>
              <a:rPr sz="2000" b="1">
                <a:solidFill>
                  <a:srgbClr val="FB923C"/>
                </a:solidFill>
              </a:rPr>
              <a:t>SOLVER 2</a:t>
            </a:r>
          </a:p>
        </p:txBody>
      </p:sp>
      <p:sp>
        <p:nvSpPr>
          <p:cNvPr id="3" name="TextBox 2"/>
          <p:cNvSpPr txBox="1"/>
          <p:nvPr/>
        </p:nvSpPr>
        <p:spPr>
          <a:xfrm>
            <a:off x="822960" y="2560320"/>
            <a:ext cx="10515600" cy="1097280"/>
          </a:xfrm>
          <a:prstGeom prst="rect">
            <a:avLst/>
          </a:prstGeom>
          <a:noFill/>
        </p:spPr>
        <p:txBody>
          <a:bodyPr wrap="square" anchor="t">
            <a:spAutoFit/>
          </a:bodyPr>
          <a:lstStyle/>
          <a:p>
            <a:pPr algn="l"/>
            <a:r>
              <a:rPr sz="4400" b="1">
                <a:solidFill>
                  <a:srgbClr val="E2E8F0"/>
                </a:solidFill>
              </a:rPr>
              <a:t>GAN: add a value signal</a:t>
            </a:r>
          </a:p>
        </p:txBody>
      </p:sp>
      <p:sp>
        <p:nvSpPr>
          <p:cNvPr id="4" name="TextBox 3"/>
          <p:cNvSpPr txBox="1"/>
          <p:nvPr/>
        </p:nvSpPr>
        <p:spPr>
          <a:xfrm>
            <a:off x="822960" y="3657600"/>
            <a:ext cx="10515600" cy="914400"/>
          </a:xfrm>
          <a:prstGeom prst="rect">
            <a:avLst/>
          </a:prstGeom>
          <a:noFill/>
        </p:spPr>
        <p:txBody>
          <a:bodyPr wrap="square" anchor="t">
            <a:spAutoFit/>
          </a:bodyPr>
          <a:lstStyle/>
          <a:p>
            <a:pPr algn="l"/>
            <a:r>
              <a:rPr sz="2000" b="0">
                <a:solidFill>
                  <a:srgbClr val="94A3B8"/>
                </a:solidFill>
              </a:rPr>
              <a:t>Generator proposes a placement; discriminator judges realism and predicts line clears</a:t>
            </a:r>
          </a:p>
        </p:txBody>
      </p:sp>
      <p:sp>
        <p:nvSpPr>
          <p:cNvPr id="5" name="TextBox 4"/>
          <p:cNvSpPr txBox="1"/>
          <p:nvPr/>
        </p:nvSpPr>
        <p:spPr>
          <a:xfrm>
            <a:off x="822960" y="4937760"/>
            <a:ext cx="10515600" cy="457200"/>
          </a:xfrm>
          <a:prstGeom prst="rect">
            <a:avLst/>
          </a:prstGeom>
          <a:noFill/>
        </p:spPr>
        <p:txBody>
          <a:bodyPr wrap="square" anchor="t">
            <a:spAutoFit/>
          </a:bodyPr>
          <a:lstStyle/>
          <a:p>
            <a:pPr algn="l"/>
            <a:r>
              <a:rPr sz="1600" b="0">
                <a:solidFill>
                  <a:srgbClr val="67E8F9"/>
                </a:solidFill>
                <a:latin typeface="Consolas"/>
              </a:rPr>
              <a:t>Notebook: notebooks/02_gan_training_and_solver.ipynb</a:t>
            </a:r>
          </a:p>
        </p:txBody>
      </p:sp>
      <p:sp>
        <p:nvSpPr>
          <p:cNvPr id="6" name="Rectangle 5"/>
          <p:cNvSpPr/>
          <p:nvPr/>
        </p:nvSpPr>
        <p:spPr>
          <a:xfrm>
            <a:off x="822960" y="1874519"/>
            <a:ext cx="1280160" cy="64008"/>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GAN architecture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The first model with an explicit line-clear objective</a:t>
            </a:r>
          </a:p>
        </p:txBody>
      </p:sp>
      <p:sp>
        <p:nvSpPr>
          <p:cNvPr id="5" name="Rounded Rectangle 4"/>
          <p:cNvSpPr/>
          <p:nvPr/>
        </p:nvSpPr>
        <p:spPr>
          <a:xfrm>
            <a:off x="502920" y="1463040"/>
            <a:ext cx="5760720" cy="329184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400">
                <a:solidFill>
                  <a:srgbClr val="E2E8F0"/>
                </a:solidFill>
                <a:latin typeface="Consolas"/>
              </a:rPr>
              <a:t>Generator</a:t>
            </a:r>
          </a:p>
          <a:p>
            <a:pPr algn="l"/>
            <a:r>
              <a:rPr sz="1400">
                <a:solidFill>
                  <a:srgbClr val="E2E8F0"/>
                </a:solidFill>
                <a:latin typeface="Consolas"/>
              </a:rPr>
              <a:t>  board → CNN 256   piece → Dense 64   noise (32)</a:t>
            </a:r>
          </a:p>
          <a:p>
            <a:pPr algn="l"/>
            <a:r>
              <a:rPr sz="1400">
                <a:solidFill>
                  <a:srgbClr val="E2E8F0"/>
                </a:solidFill>
                <a:latin typeface="Consolas"/>
              </a:rPr>
              <a:t>  concat → MLP 512 + 2× residual</a:t>
            </a:r>
          </a:p>
          <a:p>
            <a:pPr algn="l"/>
            <a:r>
              <a:rPr sz="1400">
                <a:solidFill>
                  <a:srgbClr val="E2E8F0"/>
                </a:solidFill>
                <a:latin typeface="Consolas"/>
              </a:rPr>
              <a:t>  → rotation logits (4), position sigmoid (2)</a:t>
            </a:r>
          </a:p>
          <a:p>
            <a:pPr algn="l"/>
            <a:r>
              <a:rPr sz="1400">
                <a:solidFill>
                  <a:srgbClr val="E2E8F0"/>
                </a:solidFill>
                <a:latin typeface="Consolas"/>
              </a:rPr>
              <a:t> </a:t>
            </a:r>
          </a:p>
          <a:p>
            <a:pPr algn="l"/>
            <a:r>
              <a:rPr sz="1400">
                <a:solidFill>
                  <a:srgbClr val="E2E8F0"/>
                </a:solidFill>
                <a:latin typeface="Consolas"/>
              </a:rPr>
              <a:t>Discriminator</a:t>
            </a:r>
          </a:p>
          <a:p>
            <a:pPr algn="l"/>
            <a:r>
              <a:rPr sz="1400">
                <a:solidFill>
                  <a:srgbClr val="E2E8F0"/>
                </a:solidFill>
                <a:latin typeface="Consolas"/>
              </a:rPr>
              <a:t>  pre-board  → CNN 256</a:t>
            </a:r>
          </a:p>
          <a:p>
            <a:pPr algn="l"/>
            <a:r>
              <a:rPr sz="1400">
                <a:solidFill>
                  <a:srgbClr val="E2E8F0"/>
                </a:solidFill>
                <a:latin typeface="Consolas"/>
              </a:rPr>
              <a:t>  post-board → same CNN 256</a:t>
            </a:r>
          </a:p>
          <a:p>
            <a:pPr algn="l"/>
            <a:r>
              <a:rPr sz="1400">
                <a:solidFill>
                  <a:srgbClr val="E2E8F0"/>
                </a:solidFill>
                <a:latin typeface="Consolas"/>
              </a:rPr>
              <a:t>  action (13)</a:t>
            </a:r>
          </a:p>
          <a:p>
            <a:pPr algn="l"/>
            <a:r>
              <a:rPr sz="1400">
                <a:solidFill>
                  <a:srgbClr val="E2E8F0"/>
                </a:solidFill>
                <a:latin typeface="Consolas"/>
              </a:rPr>
              <a:t>  concat → MLP 512 + 2× residual</a:t>
            </a:r>
          </a:p>
          <a:p>
            <a:pPr algn="l"/>
            <a:r>
              <a:rPr sz="1400">
                <a:solidFill>
                  <a:srgbClr val="E2E8F0"/>
                </a:solidFill>
                <a:latin typeface="Consolas"/>
              </a:rPr>
              <a:t>  → realism logit (1), line-clear logits (5: 0–4)</a:t>
            </a:r>
          </a:p>
        </p:txBody>
      </p:sp>
      <p:sp>
        <p:nvSpPr>
          <p:cNvPr id="6" name="TextBox 5"/>
          <p:cNvSpPr txBox="1"/>
          <p:nvPr/>
        </p:nvSpPr>
        <p:spPr>
          <a:xfrm>
            <a:off x="6583680" y="1463040"/>
            <a:ext cx="5212080" cy="5120640"/>
          </a:xfrm>
          <a:prstGeom prst="rect">
            <a:avLst/>
          </a:prstGeom>
          <a:noFill/>
        </p:spPr>
        <p:txBody>
          <a:bodyPr wrap="square">
            <a:spAutoFit/>
          </a:bodyPr>
          <a:lstStyle/>
          <a:p>
            <a:pPr>
              <a:spcAft>
                <a:spcPts val="900"/>
              </a:spcAft>
            </a:pPr>
            <a:r>
              <a:rPr sz="1600" b="0">
                <a:solidFill>
                  <a:srgbClr val="E2E8F0"/>
                </a:solidFill>
              </a:rPr>
              <a:t>•  </a:t>
            </a:r>
            <a:r>
              <a:rPr sz="1600" b="1">
                <a:solidFill>
                  <a:srgbClr val="67E8F9"/>
                </a:solidFill>
              </a:rPr>
              <a:t>Warmup</a:t>
            </a:r>
            <a:r>
              <a:rPr sz="1600" b="0">
                <a:solidFill>
                  <a:srgbClr val="E2E8F0"/>
                </a:solidFill>
              </a:rPr>
              <a:t>: supervised rotation CE + position MSE on demos</a:t>
            </a:r>
          </a:p>
          <a:p>
            <a:pPr>
              <a:spcAft>
                <a:spcPts val="900"/>
              </a:spcAft>
            </a:pPr>
            <a:r>
              <a:rPr sz="1600" b="0">
                <a:solidFill>
                  <a:srgbClr val="E2E8F0"/>
                </a:solidFill>
              </a:rPr>
              <a:t>•  </a:t>
            </a:r>
            <a:r>
              <a:rPr sz="1600" b="1">
                <a:solidFill>
                  <a:srgbClr val="67E8F9"/>
                </a:solidFill>
              </a:rPr>
              <a:t>Adversarial</a:t>
            </a:r>
            <a:r>
              <a:rPr sz="1600" b="0">
                <a:solidFill>
                  <a:srgbClr val="E2E8F0"/>
                </a:solidFill>
              </a:rPr>
              <a:t>: alternate D / G steps</a:t>
            </a:r>
          </a:p>
          <a:p>
            <a:pPr>
              <a:spcAft>
                <a:spcPts val="900"/>
              </a:spcAft>
            </a:pPr>
            <a:r>
              <a:rPr sz="1600" b="0">
                <a:solidFill>
                  <a:srgbClr val="E2E8F0"/>
                </a:solidFill>
              </a:rPr>
              <a:t>•  Generator loss = adversarial + </a:t>
            </a:r>
            <a:r>
              <a:rPr sz="1600" b="1">
                <a:solidFill>
                  <a:srgbClr val="67E8F9"/>
                </a:solidFill>
              </a:rPr>
              <a:t>line-clear reward</a:t>
            </a:r>
            <a:r>
              <a:rPr sz="1600" b="0">
                <a:solidFill>
                  <a:srgbClr val="E2E8F0"/>
                </a:solidFill>
              </a:rPr>
              <a:t> (D's predicted class) + supervised mix + snap penalty</a:t>
            </a:r>
          </a:p>
          <a:p>
            <a:pPr>
              <a:spcAft>
                <a:spcPts val="900"/>
              </a:spcAft>
            </a:pPr>
            <a:r>
              <a:rPr sz="1600" b="0">
                <a:solidFill>
                  <a:srgbClr val="E2E8F0"/>
                </a:solidFill>
              </a:rPr>
              <a:t>•  D's line-clear head trained on real clears; fakes labeled 0</a:t>
            </a:r>
          </a:p>
          <a:p>
            <a:pPr>
              <a:spcAft>
                <a:spcPts val="900"/>
              </a:spcAft>
            </a:pPr>
            <a:r>
              <a:rPr sz="1600" b="0">
                <a:solidFill>
                  <a:srgbClr val="E2E8F0"/>
                </a:solidFill>
              </a:rPr>
              <a:t>•  Generator emits a raw pose, then </a:t>
            </a:r>
            <a:r>
              <a:rPr sz="1600" b="1">
                <a:solidFill>
                  <a:srgbClr val="67E8F9"/>
                </a:solidFill>
              </a:rPr>
              <a:t>snapped</a:t>
            </a:r>
            <a:r>
              <a:rPr sz="1600" b="0">
                <a:solidFill>
                  <a:srgbClr val="E2E8F0"/>
                </a:solidFill>
              </a:rPr>
              <a:t> to the nearest legal placement</a:t>
            </a:r>
          </a:p>
          <a:p>
            <a:pPr>
              <a:spcAft>
                <a:spcPts val="900"/>
              </a:spcAft>
            </a:pPr>
            <a:r>
              <a:rPr sz="1600" b="0">
                <a:solidFill>
                  <a:srgbClr val="E2E8F0"/>
                </a:solidFill>
              </a:rPr>
              <a:t>•  Shipped: </a:t>
            </a:r>
            <a:r>
              <a:rPr sz="1500" b="0">
                <a:solidFill>
                  <a:srgbClr val="E2E8F0"/>
                </a:solidFill>
                <a:latin typeface="Consolas"/>
              </a:rPr>
              <a:t>models/gan_clean_v2</a:t>
            </a:r>
            <a:r>
              <a:rPr sz="1600" b="0">
                <a:solidFill>
                  <a:srgbClr val="E2E8F0"/>
                </a:solidFill>
              </a:rPr>
              <a:t> (60 epochs, line-clear-reward-weight 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GAN play and results</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Generator explores, discriminator (plus snap-to-legal) chooses</a:t>
            </a:r>
          </a:p>
        </p:txBody>
      </p:sp>
      <p:sp>
        <p:nvSpPr>
          <p:cNvPr id="5" name="Rounded Rectangle 4"/>
          <p:cNvSpPr/>
          <p:nvPr/>
        </p:nvSpPr>
        <p:spPr>
          <a:xfrm>
            <a:off x="502920" y="1463040"/>
            <a:ext cx="5852160" cy="137160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300">
                <a:solidFill>
                  <a:srgbClr val="E2E8F0"/>
                </a:solidFill>
                <a:latin typeface="Consolas"/>
              </a:rPr>
              <a:t>combined = realism − λ·sim_lines − 0.3·argmax p(lines)</a:t>
            </a:r>
          </a:p>
          <a:p>
            <a:pPr algn="l"/>
            <a:r>
              <a:rPr sz="1300">
                <a:solidFill>
                  <a:srgbClr val="E2E8F0"/>
                </a:solidFill>
                <a:latin typeface="Consolas"/>
              </a:rPr>
              <a:t>pick: most simulated lines, then lowest combined</a:t>
            </a:r>
          </a:p>
        </p:txBody>
      </p:sp>
      <p:graphicFrame>
        <p:nvGraphicFramePr>
          <p:cNvPr id="6" name="Table 5"/>
          <p:cNvGraphicFramePr>
            <a:graphicFrameLocks noGrp="1"/>
          </p:cNvGraphicFramePr>
          <p:nvPr/>
        </p:nvGraphicFramePr>
        <p:xfrm>
          <a:off x="502920" y="3017520"/>
          <a:ext cx="5852160" cy="1828800"/>
        </p:xfrm>
        <a:graphic>
          <a:graphicData uri="http://schemas.openxmlformats.org/drawingml/2006/table">
            <a:tbl>
              <a:tblPr firstRow="1" bandRow="1">
                <a:tableStyleId>{5C22544A-7EE6-4342-B048-85BDC9FD1C3A}</a:tableStyleId>
              </a:tblPr>
              <a:tblGrid>
                <a:gridCol w="2743200"/>
                <a:gridCol w="3108960"/>
              </a:tblGrid>
              <a:tr h="457200">
                <a:tc>
                  <a:txBody>
                    <a:bodyPr wrap="square"/>
                    <a:lstStyle/>
                    <a:p>
                      <a:r>
                        <a:rPr sz="1400" b="1">
                          <a:solidFill>
                            <a:srgbClr val="67E8F9"/>
                          </a:solidFill>
                        </a:rPr>
                        <a:t>Model</a:t>
                      </a:r>
                    </a:p>
                  </a:txBody>
                  <a:tcPr marL="73152" marR="73152" anchor="ctr">
                    <a:solidFill>
                      <a:srgbClr val="1E293B"/>
                    </a:solidFill>
                  </a:tcPr>
                </a:tc>
                <a:tc>
                  <a:txBody>
                    <a:bodyPr wrap="square"/>
                    <a:lstStyle/>
                    <a:p>
                      <a:r>
                        <a:rPr sz="1400" b="1">
                          <a:solidFill>
                            <a:srgbClr val="67E8F9"/>
                          </a:solidFill>
                        </a:rPr>
                        <a:t>Lines / game</a:t>
                      </a:r>
                    </a:p>
                  </a:txBody>
                  <a:tcPr marL="73152" marR="73152" anchor="ctr">
                    <a:solidFill>
                      <a:srgbClr val="1E293B"/>
                    </a:solidFill>
                  </a:tcPr>
                </a:tc>
              </a:tr>
              <a:tr h="457200">
                <a:tc>
                  <a:txBody>
                    <a:bodyPr wrap="square"/>
                    <a:lstStyle/>
                    <a:p>
                      <a:r>
                        <a:rPr sz="1400" b="0">
                          <a:solidFill>
                            <a:srgbClr val="E2E8F0"/>
                          </a:solidFill>
                        </a:rPr>
                        <a:t>gan_clean (25 ep)</a:t>
                      </a:r>
                    </a:p>
                  </a:txBody>
                  <a:tcPr marL="73152" marR="73152" anchor="ctr">
                    <a:solidFill>
                      <a:srgbClr val="131C2E"/>
                    </a:solidFill>
                  </a:tcPr>
                </a:tc>
                <a:tc>
                  <a:txBody>
                    <a:bodyPr wrap="square"/>
                    <a:lstStyle/>
                    <a:p>
                      <a:r>
                        <a:rPr sz="1400" b="0">
                          <a:solidFill>
                            <a:srgbClr val="E2E8F0"/>
                          </a:solidFill>
                        </a:rPr>
                        <a:t>best 4</a:t>
                      </a:r>
                    </a:p>
                  </a:txBody>
                  <a:tcPr marL="73152" marR="73152" anchor="ctr">
                    <a:solidFill>
                      <a:srgbClr val="131C2E"/>
                    </a:solidFill>
                  </a:tcPr>
                </a:tc>
              </a:tr>
              <a:tr h="457200">
                <a:tc>
                  <a:txBody>
                    <a:bodyPr wrap="square"/>
                    <a:lstStyle/>
                    <a:p>
                      <a:r>
                        <a:rPr sz="1400" b="0">
                          <a:solidFill>
                            <a:srgbClr val="E2E8F0"/>
                          </a:solidFill>
                        </a:rPr>
                        <a:t>gan_clean_v2 (60 ep, lcw 6.0)</a:t>
                      </a:r>
                    </a:p>
                  </a:txBody>
                  <a:tcPr marL="73152" marR="73152" anchor="ctr">
                    <a:solidFill>
                      <a:srgbClr val="0B1220"/>
                    </a:solidFill>
                  </a:tcPr>
                </a:tc>
                <a:tc>
                  <a:txBody>
                    <a:bodyPr wrap="square"/>
                    <a:lstStyle/>
                    <a:p>
                      <a:r>
                        <a:rPr sz="1400" b="0">
                          <a:solidFill>
                            <a:srgbClr val="E2E8F0"/>
                          </a:solidFill>
                        </a:rPr>
                        <a:t>0, 6, 2, 5, 0 (best </a:t>
                      </a:r>
                      <a:r>
                        <a:rPr sz="1400" b="1">
                          <a:solidFill>
                            <a:srgbClr val="67E8F9"/>
                          </a:solidFill>
                        </a:rPr>
                        <a:t>6</a:t>
                      </a:r>
                      <a:r>
                        <a:rPr sz="1400" b="0">
                          <a:solidFill>
                            <a:srgbClr val="E2E8F0"/>
                          </a:solidFill>
                        </a:rPr>
                        <a:t>, mean ~2.6)</a:t>
                      </a:r>
                    </a:p>
                  </a:txBody>
                  <a:tcPr marL="73152" marR="73152" anchor="ctr">
                    <a:solidFill>
                      <a:srgbClr val="0B1220"/>
                    </a:solidFill>
                  </a:tcPr>
                </a:tc>
              </a:tr>
              <a:tr h="457200">
                <a:tc>
                  <a:txBody>
                    <a:bodyPr wrap="square"/>
                    <a:lstStyle/>
                    <a:p>
                      <a:r>
                        <a:rPr sz="1400" b="0">
                          <a:solidFill>
                            <a:srgbClr val="E2E8F0"/>
                          </a:solidFill>
                        </a:rPr>
                        <a:t>greedier: 20 samples, bonus 5.0</a:t>
                      </a:r>
                    </a:p>
                  </a:txBody>
                  <a:tcPr marL="73152" marR="73152" anchor="ctr">
                    <a:solidFill>
                      <a:srgbClr val="131C2E"/>
                    </a:solidFill>
                  </a:tcPr>
                </a:tc>
                <a:tc>
                  <a:txBody>
                    <a:bodyPr wrap="square"/>
                    <a:lstStyle/>
                    <a:p>
                      <a:r>
                        <a:rPr sz="1400" b="0">
                          <a:solidFill>
                            <a:srgbClr val="E2E8F0"/>
                          </a:solidFill>
                        </a:rPr>
                        <a:t>0, 1, 0 (worse)</a:t>
                      </a:r>
                    </a:p>
                  </a:txBody>
                  <a:tcPr marL="73152" marR="73152" anchor="ctr">
                    <a:solidFill>
                      <a:srgbClr val="131C2E"/>
                    </a:solidFill>
                  </a:tcPr>
                </a:tc>
              </a:tr>
            </a:tbl>
          </a:graphicData>
        </a:graphic>
      </p:graphicFrame>
      <p:sp>
        <p:nvSpPr>
          <p:cNvPr id="7" name="TextBox 6"/>
          <p:cNvSpPr txBox="1"/>
          <p:nvPr/>
        </p:nvSpPr>
        <p:spPr>
          <a:xfrm>
            <a:off x="502920" y="5029200"/>
            <a:ext cx="5852160" cy="1645920"/>
          </a:xfrm>
          <a:prstGeom prst="rect">
            <a:avLst/>
          </a:prstGeom>
          <a:noFill/>
        </p:spPr>
        <p:txBody>
          <a:bodyPr wrap="square">
            <a:spAutoFit/>
          </a:bodyPr>
          <a:lstStyle/>
          <a:p>
            <a:pPr>
              <a:spcAft>
                <a:spcPts val="600"/>
              </a:spcAft>
            </a:pPr>
            <a:r>
              <a:rPr sz="1500" b="0">
                <a:solidFill>
                  <a:srgbClr val="E2E8F0"/>
                </a:solidFill>
              </a:rPr>
              <a:t>•  Real line clears where the VAE got none, but </a:t>
            </a:r>
            <a:r>
              <a:rPr sz="1500" b="1">
                <a:solidFill>
                  <a:srgbClr val="67E8F9"/>
                </a:solidFill>
              </a:rPr>
              <a:t>high variance</a:t>
            </a:r>
            <a:r>
              <a:rPr sz="1500" b="0">
                <a:solidFill>
                  <a:srgbClr val="E2E8F0"/>
                </a:solidFill>
              </a:rPr>
              <a:t>, never double digits</a:t>
            </a:r>
          </a:p>
          <a:p>
            <a:pPr>
              <a:spcAft>
                <a:spcPts val="600"/>
              </a:spcAft>
            </a:pPr>
            <a:r>
              <a:rPr sz="1500" b="0">
                <a:solidFill>
                  <a:srgbClr val="E2E8F0"/>
                </a:solidFill>
              </a:rPr>
              <a:t>•  </a:t>
            </a:r>
            <a:r>
              <a:rPr sz="1500" b="1">
                <a:solidFill>
                  <a:srgbClr val="67E8F9"/>
                </a:solidFill>
              </a:rPr>
              <a:t>More search ≠ better</a:t>
            </a:r>
            <a:r>
              <a:rPr sz="1500" b="0">
                <a:solidFill>
                  <a:srgbClr val="E2E8F0"/>
                </a:solidFill>
              </a:rPr>
              <a:t>: over-weighting immediate clears creates holes</a:t>
            </a:r>
          </a:p>
        </p:txBody>
      </p:sp>
      <p:pic>
        <p:nvPicPr>
          <p:cNvPr id="8" name="Picture 7" descr="picks_bumpy_T.png"/>
          <p:cNvPicPr>
            <a:picLocks noChangeAspect="1"/>
          </p:cNvPicPr>
          <p:nvPr/>
        </p:nvPicPr>
        <p:blipFill>
          <a:blip r:embed="rId3"/>
          <a:stretch>
            <a:fillRect/>
          </a:stretch>
        </p:blipFill>
        <p:spPr>
          <a:xfrm>
            <a:off x="6583680" y="1543719"/>
            <a:ext cx="5394960" cy="3496241"/>
          </a:xfrm>
          <a:prstGeom prst="rect">
            <a:avLst/>
          </a:prstGeom>
        </p:spPr>
      </p:pic>
      <p:sp>
        <p:nvSpPr>
          <p:cNvPr id="9" name="TextBox 8"/>
          <p:cNvSpPr txBox="1"/>
          <p:nvPr/>
        </p:nvSpPr>
        <p:spPr>
          <a:xfrm>
            <a:off x="6583680" y="5394960"/>
            <a:ext cx="5394960" cy="1097280"/>
          </a:xfrm>
          <a:prstGeom prst="rect">
            <a:avLst/>
          </a:prstGeom>
          <a:noFill/>
        </p:spPr>
        <p:txBody>
          <a:bodyPr wrap="square" anchor="t">
            <a:spAutoFit/>
          </a:bodyPr>
          <a:lstStyle/>
          <a:p>
            <a:pPr algn="l"/>
            <a:r>
              <a:rPr sz="1400" b="0">
                <a:solidFill>
                  <a:srgbClr val="94A3B8"/>
                </a:solidFill>
              </a:rPr>
              <a:t>bumpy + T: each solver clears 1 line here, but from different poses. On messy boards, realism and clears pull against each other (notebook 02 §9).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Notebook 02 guide: GAN</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notebooks/02_gan_training_and_solver.ipynb</a:t>
            </a:r>
          </a:p>
        </p:txBody>
      </p:sp>
      <p:graphicFrame>
        <p:nvGraphicFramePr>
          <p:cNvPr id="5" name="Table 4"/>
          <p:cNvGraphicFramePr>
            <a:graphicFrameLocks noGrp="1"/>
          </p:cNvGraphicFramePr>
          <p:nvPr/>
        </p:nvGraphicFramePr>
        <p:xfrm>
          <a:off x="502920" y="1463040"/>
          <a:ext cx="11155680" cy="4535424"/>
        </p:xfrm>
        <a:graphic>
          <a:graphicData uri="http://schemas.openxmlformats.org/drawingml/2006/table">
            <a:tbl>
              <a:tblPr firstRow="1" bandRow="1">
                <a:tableStyleId>{5C22544A-7EE6-4342-B048-85BDC9FD1C3A}</a:tableStyleId>
              </a:tblPr>
              <a:tblGrid>
                <a:gridCol w="2286000"/>
                <a:gridCol w="4572000"/>
                <a:gridCol w="4297680"/>
              </a:tblGrid>
              <a:tr h="566928">
                <a:tc>
                  <a:txBody>
                    <a:bodyPr wrap="square"/>
                    <a:lstStyle/>
                    <a:p>
                      <a:r>
                        <a:rPr sz="1400" b="1">
                          <a:solidFill>
                            <a:srgbClr val="67E8F9"/>
                          </a:solidFill>
                        </a:rPr>
                        <a:t>Section</a:t>
                      </a:r>
                    </a:p>
                  </a:txBody>
                  <a:tcPr marL="73152" marR="73152" anchor="ctr">
                    <a:solidFill>
                      <a:srgbClr val="1E293B"/>
                    </a:solidFill>
                  </a:tcPr>
                </a:tc>
                <a:tc>
                  <a:txBody>
                    <a:bodyPr wrap="square"/>
                    <a:lstStyle/>
                    <a:p>
                      <a:r>
                        <a:rPr sz="1400" b="1">
                          <a:solidFill>
                            <a:srgbClr val="67E8F9"/>
                          </a:solidFill>
                        </a:rPr>
                        <a:t>What to show</a:t>
                      </a:r>
                    </a:p>
                  </a:txBody>
                  <a:tcPr marL="73152" marR="73152" anchor="ctr">
                    <a:solidFill>
                      <a:srgbClr val="1E293B"/>
                    </a:solidFill>
                  </a:tcPr>
                </a:tc>
                <a:tc>
                  <a:txBody>
                    <a:bodyPr wrap="square"/>
                    <a:lstStyle/>
                    <a:p>
                      <a:r>
                        <a:rPr sz="1400" b="1">
                          <a:solidFill>
                            <a:srgbClr val="67E8F9"/>
                          </a:solidFill>
                        </a:rPr>
                        <a:t>Talking point</a:t>
                      </a:r>
                    </a:p>
                  </a:txBody>
                  <a:tcPr marL="73152" marR="73152" anchor="ctr">
                    <a:solidFill>
                      <a:srgbClr val="1E293B"/>
                    </a:solidFill>
                  </a:tcPr>
                </a:tc>
              </a:tr>
              <a:tr h="566928">
                <a:tc>
                  <a:txBody>
                    <a:bodyPr wrap="square"/>
                    <a:lstStyle/>
                    <a:p>
                      <a:r>
                        <a:rPr sz="1400" b="0">
                          <a:solidFill>
                            <a:srgbClr val="E2E8F0"/>
                          </a:solidFill>
                        </a:rPr>
                        <a:t>2. Features</a:t>
                      </a:r>
                    </a:p>
                  </a:txBody>
                  <a:tcPr marL="73152" marR="73152" anchor="ctr">
                    <a:solidFill>
                      <a:srgbClr val="131C2E"/>
                    </a:solidFill>
                  </a:tcPr>
                </a:tc>
                <a:tc>
                  <a:txBody>
                    <a:bodyPr wrap="square"/>
                    <a:lstStyle/>
                    <a:p>
                      <a:r>
                        <a:rPr sz="1400" b="0">
                          <a:solidFill>
                            <a:srgbClr val="E2E8F0"/>
                          </a:solidFill>
                        </a:rPr>
                        <a:t>Real pre/post board pair; line-clear histogram</a:t>
                      </a:r>
                    </a:p>
                  </a:txBody>
                  <a:tcPr marL="73152" marR="73152" anchor="ctr">
                    <a:solidFill>
                      <a:srgbClr val="131C2E"/>
                    </a:solidFill>
                  </a:tcPr>
                </a:tc>
                <a:tc>
                  <a:txBody>
                    <a:bodyPr wrap="square"/>
                    <a:lstStyle/>
                    <a:p>
                      <a:r>
                        <a:rPr sz="1400" b="0">
                          <a:solidFill>
                            <a:srgbClr val="E2E8F0"/>
                          </a:solidFill>
                        </a:rPr>
                        <a:t>D sees the consequence (post-board)</a:t>
                      </a:r>
                    </a:p>
                  </a:txBody>
                  <a:tcPr marL="73152" marR="73152" anchor="ctr">
                    <a:solidFill>
                      <a:srgbClr val="131C2E"/>
                    </a:solidFill>
                  </a:tcPr>
                </a:tc>
              </a:tr>
              <a:tr h="566928">
                <a:tc>
                  <a:txBody>
                    <a:bodyPr wrap="square"/>
                    <a:lstStyle/>
                    <a:p>
                      <a:r>
                        <a:rPr sz="1400" b="0">
                          <a:solidFill>
                            <a:srgbClr val="E2E8F0"/>
                          </a:solidFill>
                        </a:rPr>
                        <a:t>6. Lab</a:t>
                      </a:r>
                    </a:p>
                  </a:txBody>
                  <a:tcPr marL="73152" marR="73152" anchor="ctr">
                    <a:solidFill>
                      <a:srgbClr val="0B1220"/>
                    </a:solidFill>
                  </a:tcPr>
                </a:tc>
                <a:tc>
                  <a:txBody>
                    <a:bodyPr wrap="square"/>
                    <a:lstStyle/>
                    <a:p>
                      <a:r>
                        <a:rPr sz="1400" b="0">
                          <a:solidFill>
                            <a:srgbClr val="E2E8F0"/>
                          </a:solidFill>
                        </a:rPr>
                        <a:t>PIECE, SCENARIO, LINE_CLEAR_BONUS (try 0.0 vs 6.0)</a:t>
                      </a:r>
                    </a:p>
                  </a:txBody>
                  <a:tcPr marL="73152" marR="73152" anchor="ctr">
                    <a:solidFill>
                      <a:srgbClr val="0B1220"/>
                    </a:solidFill>
                  </a:tcPr>
                </a:tc>
                <a:tc>
                  <a:txBody>
                    <a:bodyPr wrap="square"/>
                    <a:lstStyle/>
                    <a:p>
                      <a:r>
                        <a:rPr sz="1400" b="0">
                          <a:solidFill>
                            <a:srgbClr val="E2E8F0"/>
                          </a:solidFill>
                        </a:rPr>
                        <a:t>How much does the bonus steer?</a:t>
                      </a:r>
                    </a:p>
                  </a:txBody>
                  <a:tcPr marL="73152" marR="73152" anchor="ctr">
                    <a:solidFill>
                      <a:srgbClr val="0B1220"/>
                    </a:solidFill>
                  </a:tcPr>
                </a:tc>
              </a:tr>
              <a:tr h="566928">
                <a:tc>
                  <a:txBody>
                    <a:bodyPr wrap="square"/>
                    <a:lstStyle/>
                    <a:p>
                      <a:r>
                        <a:rPr sz="1400" b="0">
                          <a:solidFill>
                            <a:srgbClr val="E2E8F0"/>
                          </a:solidFill>
                        </a:rPr>
                        <a:t>7. Proposals</a:t>
                      </a:r>
                    </a:p>
                  </a:txBody>
                  <a:tcPr marL="73152" marR="73152" anchor="ctr">
                    <a:solidFill>
                      <a:srgbClr val="131C2E"/>
                    </a:solidFill>
                  </a:tcPr>
                </a:tc>
                <a:tc>
                  <a:txBody>
                    <a:bodyPr wrap="square"/>
                    <a:lstStyle/>
                    <a:p>
                      <a:r>
                        <a:rPr sz="1400" b="0">
                          <a:solidFill>
                            <a:srgbClr val="E2E8F0"/>
                          </a:solidFill>
                        </a:rPr>
                        <a:t>64 noise samples → snapped proposal density</a:t>
                      </a:r>
                    </a:p>
                  </a:txBody>
                  <a:tcPr marL="73152" marR="73152" anchor="ctr">
                    <a:solidFill>
                      <a:srgbClr val="131C2E"/>
                    </a:solidFill>
                  </a:tcPr>
                </a:tc>
                <a:tc>
                  <a:txBody>
                    <a:bodyPr wrap="square"/>
                    <a:lstStyle/>
                    <a:p>
                      <a:r>
                        <a:rPr sz="1400" b="0">
                          <a:solidFill>
                            <a:srgbClr val="E2E8F0"/>
                          </a:solidFill>
                        </a:rPr>
                        <a:t>Collapse? Does it find the well?</a:t>
                      </a:r>
                    </a:p>
                  </a:txBody>
                  <a:tcPr marL="73152" marR="73152" anchor="ctr">
                    <a:solidFill>
                      <a:srgbClr val="131C2E"/>
                    </a:solidFill>
                  </a:tcPr>
                </a:tc>
              </a:tr>
              <a:tr h="566928">
                <a:tc>
                  <a:txBody>
                    <a:bodyPr wrap="square"/>
                    <a:lstStyle/>
                    <a:p>
                      <a:r>
                        <a:rPr sz="1400" b="0">
                          <a:solidFill>
                            <a:srgbClr val="E2E8F0"/>
                          </a:solidFill>
                        </a:rPr>
                        <a:t>8. Discriminator scoring</a:t>
                      </a:r>
                    </a:p>
                  </a:txBody>
                  <a:tcPr marL="73152" marR="73152" anchor="ctr">
                    <a:solidFill>
                      <a:srgbClr val="0B1220"/>
                    </a:solidFill>
                  </a:tcPr>
                </a:tc>
                <a:tc>
                  <a:txBody>
                    <a:bodyPr wrap="square"/>
                    <a:lstStyle/>
                    <a:p>
                      <a:r>
                        <a:rPr sz="1400" b="0">
                          <a:solidFill>
                            <a:srgbClr val="E2E8F0"/>
                          </a:solidFill>
                        </a:rPr>
                        <a:t>Realism, p(lines), simulated lines per candidate</a:t>
                      </a:r>
                    </a:p>
                  </a:txBody>
                  <a:tcPr marL="73152" marR="73152" anchor="ctr">
                    <a:solidFill>
                      <a:srgbClr val="0B1220"/>
                    </a:solidFill>
                  </a:tcPr>
                </a:tc>
                <a:tc>
                  <a:txBody>
                    <a:bodyPr wrap="square"/>
                    <a:lstStyle/>
                    <a:p>
                      <a:r>
                        <a:rPr sz="1400" b="0">
                          <a:solidFill>
                            <a:srgbClr val="E2E8F0"/>
                          </a:solidFill>
                        </a:rPr>
                        <a:t>The selection rule is a linear mix</a:t>
                      </a:r>
                    </a:p>
                  </a:txBody>
                  <a:tcPr marL="73152" marR="73152" anchor="ctr">
                    <a:solidFill>
                      <a:srgbClr val="0B1220"/>
                    </a:solidFill>
                  </a:tcPr>
                </a:tc>
              </a:tr>
              <a:tr h="566928">
                <a:tc>
                  <a:txBody>
                    <a:bodyPr wrap="square"/>
                    <a:lstStyle/>
                    <a:p>
                      <a:r>
                        <a:rPr sz="1400" b="0">
                          <a:solidFill>
                            <a:srgbClr val="E2E8F0"/>
                          </a:solidFill>
                        </a:rPr>
                        <a:t>9. Which feature decided?</a:t>
                      </a:r>
                    </a:p>
                  </a:txBody>
                  <a:tcPr marL="73152" marR="73152" anchor="ctr">
                    <a:solidFill>
                      <a:srgbClr val="131C2E"/>
                    </a:solidFill>
                  </a:tcPr>
                </a:tc>
                <a:tc>
                  <a:txBody>
                    <a:bodyPr wrap="square"/>
                    <a:lstStyle/>
                    <a:p>
                      <a:r>
                        <a:rPr sz="1400" b="0">
                          <a:solidFill>
                            <a:srgbClr val="E2E8F0"/>
                          </a:solidFill>
                        </a:rPr>
                        <a:t>Bar charts of realism / lines / combined</a:t>
                      </a:r>
                    </a:p>
                  </a:txBody>
                  <a:tcPr marL="73152" marR="73152" anchor="ctr">
                    <a:solidFill>
                      <a:srgbClr val="131C2E"/>
                    </a:solidFill>
                  </a:tcPr>
                </a:tc>
                <a:tc>
                  <a:txBody>
                    <a:bodyPr wrap="square"/>
                    <a:lstStyle/>
                    <a:p>
                      <a:r>
                        <a:rPr sz="1400" b="0">
                          <a:solidFill>
                            <a:srgbClr val="E2E8F0"/>
                          </a:solidFill>
                        </a:rPr>
                        <a:t>Realism dominating = VAE failure mode</a:t>
                      </a:r>
                    </a:p>
                  </a:txBody>
                  <a:tcPr marL="73152" marR="73152" anchor="ctr">
                    <a:solidFill>
                      <a:srgbClr val="131C2E"/>
                    </a:solidFill>
                  </a:tcPr>
                </a:tc>
              </a:tr>
              <a:tr h="566928">
                <a:tc>
                  <a:txBody>
                    <a:bodyPr wrap="square"/>
                    <a:lstStyle/>
                    <a:p>
                      <a:r>
                        <a:rPr sz="1400" b="0">
                          <a:solidFill>
                            <a:srgbClr val="E2E8F0"/>
                          </a:solidFill>
                        </a:rPr>
                        <a:t>10. CNN pre vs post</a:t>
                      </a:r>
                    </a:p>
                  </a:txBody>
                  <a:tcPr marL="73152" marR="73152" anchor="ctr">
                    <a:solidFill>
                      <a:srgbClr val="0B1220"/>
                    </a:solidFill>
                  </a:tcPr>
                </a:tc>
                <a:tc>
                  <a:txBody>
                    <a:bodyPr wrap="square"/>
                    <a:lstStyle/>
                    <a:p>
                      <a:r>
                        <a:rPr sz="1400" b="0">
                          <a:solidFill>
                            <a:srgbClr val="E2E8F0"/>
                          </a:solidFill>
                        </a:rPr>
                        <a:t>Feature maps before/after the pick</a:t>
                      </a:r>
                    </a:p>
                  </a:txBody>
                  <a:tcPr marL="73152" marR="73152" anchor="ctr">
                    <a:solidFill>
                      <a:srgbClr val="0B1220"/>
                    </a:solidFill>
                  </a:tcPr>
                </a:tc>
                <a:tc>
                  <a:txBody>
                    <a:bodyPr wrap="square"/>
                    <a:lstStyle/>
                    <a:p>
                      <a:r>
                        <a:rPr sz="1400" b="0">
                          <a:solidFill>
                            <a:srgbClr val="E2E8F0"/>
                          </a:solidFill>
                        </a:rPr>
                        <a:t>Did it notice the completed row?</a:t>
                      </a:r>
                    </a:p>
                  </a:txBody>
                  <a:tcPr marL="73152" marR="73152" anchor="ctr">
                    <a:solidFill>
                      <a:srgbClr val="0B1220"/>
                    </a:solidFill>
                  </a:tcPr>
                </a:tc>
              </a:tr>
              <a:tr h="566928">
                <a:tc>
                  <a:txBody>
                    <a:bodyPr wrap="square"/>
                    <a:lstStyle/>
                    <a:p>
                      <a:r>
                        <a:rPr sz="1400" b="0">
                          <a:solidFill>
                            <a:srgbClr val="E2E8F0"/>
                          </a:solidFill>
                        </a:rPr>
                        <a:t>11. Solver</a:t>
                      </a:r>
                    </a:p>
                  </a:txBody>
                  <a:tcPr marL="73152" marR="73152" anchor="ctr">
                    <a:solidFill>
                      <a:srgbClr val="131C2E"/>
                    </a:solidFill>
                  </a:tcPr>
                </a:tc>
                <a:tc>
                  <a:txBody>
                    <a:bodyPr wrap="square"/>
                    <a:lstStyle/>
                    <a:p>
                      <a:r>
                        <a:rPr sz="1400" b="0">
                          <a:solidFill>
                            <a:srgbClr val="E2E8F0"/>
                          </a:solidFill>
                        </a:rPr>
                        <a:t>12 in-process moves from the scenario</a:t>
                      </a:r>
                    </a:p>
                  </a:txBody>
                  <a:tcPr marL="73152" marR="73152" anchor="ctr">
                    <a:solidFill>
                      <a:srgbClr val="131C2E"/>
                    </a:solidFill>
                  </a:tcPr>
                </a:tc>
                <a:tc>
                  <a:txBody>
                    <a:bodyPr wrap="square"/>
                    <a:lstStyle/>
                    <a:p>
                      <a:r>
                        <a:rPr sz="1400" b="0">
                          <a:solidFill>
                            <a:srgbClr val="E2E8F0"/>
                          </a:solidFill>
                        </a:rPr>
                        <a:t>Ceiling in this study: ~6 lines</a:t>
                      </a:r>
                    </a:p>
                  </a:txBody>
                  <a:tcPr marL="73152" marR="73152" anchor="ctr">
                    <a:solidFill>
                      <a:srgbClr val="131C2E"/>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822960" y="2011680"/>
            <a:ext cx="10058400" cy="548640"/>
          </a:xfrm>
          <a:prstGeom prst="rect">
            <a:avLst/>
          </a:prstGeom>
          <a:noFill/>
        </p:spPr>
        <p:txBody>
          <a:bodyPr wrap="square" anchor="t">
            <a:spAutoFit/>
          </a:bodyPr>
          <a:lstStyle/>
          <a:p>
            <a:pPr algn="l"/>
            <a:r>
              <a:rPr sz="2000" b="1">
                <a:solidFill>
                  <a:srgbClr val="4ADE80"/>
                </a:solidFill>
              </a:rPr>
              <a:t>SOLVER 3</a:t>
            </a:r>
          </a:p>
        </p:txBody>
      </p:sp>
      <p:sp>
        <p:nvSpPr>
          <p:cNvPr id="3" name="TextBox 2"/>
          <p:cNvSpPr txBox="1"/>
          <p:nvPr/>
        </p:nvSpPr>
        <p:spPr>
          <a:xfrm>
            <a:off x="822960" y="2560320"/>
            <a:ext cx="10515600" cy="1097280"/>
          </a:xfrm>
          <a:prstGeom prst="rect">
            <a:avLst/>
          </a:prstGeom>
          <a:noFill/>
        </p:spPr>
        <p:txBody>
          <a:bodyPr wrap="square" anchor="t">
            <a:spAutoFit/>
          </a:bodyPr>
          <a:lstStyle/>
          <a:p>
            <a:pPr algn="l"/>
            <a:r>
              <a:rPr sz="4400" b="1">
                <a:solidFill>
                  <a:srgbClr val="E2E8F0"/>
                </a:solidFill>
              </a:rPr>
              <a:t>Transformer: stop generating, start ranking</a:t>
            </a:r>
          </a:p>
        </p:txBody>
      </p:sp>
      <p:sp>
        <p:nvSpPr>
          <p:cNvPr id="4" name="TextBox 3"/>
          <p:cNvSpPr txBox="1"/>
          <p:nvPr/>
        </p:nvSpPr>
        <p:spPr>
          <a:xfrm>
            <a:off x="822960" y="3657600"/>
            <a:ext cx="10515600" cy="914400"/>
          </a:xfrm>
          <a:prstGeom prst="rect">
            <a:avLst/>
          </a:prstGeom>
          <a:noFill/>
        </p:spPr>
        <p:txBody>
          <a:bodyPr wrap="square" anchor="t">
            <a:spAutoFit/>
          </a:bodyPr>
          <a:lstStyle/>
          <a:p>
            <a:pPr algn="l"/>
            <a:r>
              <a:rPr sz="2000" b="0">
                <a:solidFill>
                  <a:srgbClr val="94A3B8"/>
                </a:solidFill>
              </a:rPr>
              <a:t>Score every legal reachable candidate with a learned evaluate_placement; play the argmax</a:t>
            </a:r>
          </a:p>
        </p:txBody>
      </p:sp>
      <p:sp>
        <p:nvSpPr>
          <p:cNvPr id="5" name="TextBox 4"/>
          <p:cNvSpPr txBox="1"/>
          <p:nvPr/>
        </p:nvSpPr>
        <p:spPr>
          <a:xfrm>
            <a:off x="822960" y="4937760"/>
            <a:ext cx="10515600" cy="457200"/>
          </a:xfrm>
          <a:prstGeom prst="rect">
            <a:avLst/>
          </a:prstGeom>
          <a:noFill/>
        </p:spPr>
        <p:txBody>
          <a:bodyPr wrap="square" anchor="t">
            <a:spAutoFit/>
          </a:bodyPr>
          <a:lstStyle/>
          <a:p>
            <a:pPr algn="l"/>
            <a:r>
              <a:rPr sz="1600" b="0">
                <a:solidFill>
                  <a:srgbClr val="67E8F9"/>
                </a:solidFill>
                <a:latin typeface="Consolas"/>
              </a:rPr>
              <a:t>Notebook: notebooks/03_transformer_training_and_solver.ipynb</a:t>
            </a:r>
          </a:p>
        </p:txBody>
      </p:sp>
      <p:sp>
        <p:nvSpPr>
          <p:cNvPr id="6" name="Rectangle 5"/>
          <p:cNvSpPr/>
          <p:nvPr/>
        </p:nvSpPr>
        <p:spPr>
          <a:xfrm>
            <a:off x="822960" y="1874519"/>
            <a:ext cx="1280160" cy="6400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Transformer scorer: tokens and heads</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One forward pass per legal candidate; play = argmax score</a:t>
            </a:r>
          </a:p>
        </p:txBody>
      </p:sp>
      <p:graphicFrame>
        <p:nvGraphicFramePr>
          <p:cNvPr id="5" name="Table 4"/>
          <p:cNvGraphicFramePr>
            <a:graphicFrameLocks noGrp="1"/>
          </p:cNvGraphicFramePr>
          <p:nvPr/>
        </p:nvGraphicFramePr>
        <p:xfrm>
          <a:off x="502920" y="1463040"/>
          <a:ext cx="5669280" cy="3017520"/>
        </p:xfrm>
        <a:graphic>
          <a:graphicData uri="http://schemas.openxmlformats.org/drawingml/2006/table">
            <a:tbl>
              <a:tblPr firstRow="1" bandRow="1">
                <a:tableStyleId>{5C22544A-7EE6-4342-B048-85BDC9FD1C3A}</a:tableStyleId>
              </a:tblPr>
              <a:tblGrid>
                <a:gridCol w="1737360"/>
                <a:gridCol w="3931920"/>
              </a:tblGrid>
              <a:tr h="502920">
                <a:tc>
                  <a:txBody>
                    <a:bodyPr wrap="square"/>
                    <a:lstStyle/>
                    <a:p>
                      <a:r>
                        <a:rPr sz="1400" b="1">
                          <a:solidFill>
                            <a:srgbClr val="67E8F9"/>
                          </a:solidFill>
                        </a:rPr>
                        <a:t>Token</a:t>
                      </a:r>
                    </a:p>
                  </a:txBody>
                  <a:tcPr marL="73152" marR="73152" anchor="ctr">
                    <a:solidFill>
                      <a:srgbClr val="1E293B"/>
                    </a:solidFill>
                  </a:tcPr>
                </a:tc>
                <a:tc>
                  <a:txBody>
                    <a:bodyPr wrap="square"/>
                    <a:lstStyle/>
                    <a:p>
                      <a:r>
                        <a:rPr sz="1400" b="1">
                          <a:solidFill>
                            <a:srgbClr val="67E8F9"/>
                          </a:solidFill>
                        </a:rPr>
                        <a:t>Meaning</a:t>
                      </a:r>
                    </a:p>
                  </a:txBody>
                  <a:tcPr marL="73152" marR="73152" anchor="ctr">
                    <a:solidFill>
                      <a:srgbClr val="1E293B"/>
                    </a:solidFill>
                  </a:tcPr>
                </a:tc>
              </a:tr>
              <a:tr h="502920">
                <a:tc>
                  <a:txBody>
                    <a:bodyPr wrap="square"/>
                    <a:lstStyle/>
                    <a:p>
                      <a:r>
                        <a:rPr sz="1400" b="0">
                          <a:solidFill>
                            <a:srgbClr val="E2E8F0"/>
                          </a:solidFill>
                        </a:rPr>
                        <a:t>0–199  cells</a:t>
                      </a:r>
                    </a:p>
                  </a:txBody>
                  <a:tcPr marL="73152" marR="73152" anchor="ctr">
                    <a:solidFill>
                      <a:srgbClr val="131C2E"/>
                    </a:solidFill>
                  </a:tcPr>
                </a:tc>
                <a:tc>
                  <a:txBody>
                    <a:bodyPr wrap="square"/>
                    <a:lstStyle/>
                    <a:p>
                      <a:r>
                        <a:rPr sz="1400" b="0">
                          <a:solidFill>
                            <a:srgbClr val="E2E8F0"/>
                          </a:solidFill>
                        </a:rPr>
                        <a:t>row-major occupancy + positional embedding</a:t>
                      </a:r>
                    </a:p>
                  </a:txBody>
                  <a:tcPr marL="73152" marR="73152" anchor="ctr">
                    <a:solidFill>
                      <a:srgbClr val="131C2E"/>
                    </a:solidFill>
                  </a:tcPr>
                </a:tc>
              </a:tr>
              <a:tr h="502920">
                <a:tc>
                  <a:txBody>
                    <a:bodyPr wrap="square"/>
                    <a:lstStyle/>
                    <a:p>
                      <a:r>
                        <a:rPr sz="1400" b="0">
                          <a:solidFill>
                            <a:srgbClr val="E2E8F0"/>
                          </a:solidFill>
                        </a:rPr>
                        <a:t>200  piece</a:t>
                      </a:r>
                    </a:p>
                  </a:txBody>
                  <a:tcPr marL="73152" marR="73152" anchor="ctr">
                    <a:solidFill>
                      <a:srgbClr val="0B1220"/>
                    </a:solidFill>
                  </a:tcPr>
                </a:tc>
                <a:tc>
                  <a:txBody>
                    <a:bodyPr wrap="square"/>
                    <a:lstStyle/>
                    <a:p>
                      <a:r>
                        <a:rPr sz="1400" b="0">
                          <a:solidFill>
                            <a:srgbClr val="E2E8F0"/>
                          </a:solidFill>
                        </a:rPr>
                        <a:t>piece one-hot ⊕ rotation one-hot</a:t>
                      </a:r>
                    </a:p>
                  </a:txBody>
                  <a:tcPr marL="73152" marR="73152" anchor="ctr">
                    <a:solidFill>
                      <a:srgbClr val="0B1220"/>
                    </a:solidFill>
                  </a:tcPr>
                </a:tc>
              </a:tr>
              <a:tr h="502920">
                <a:tc>
                  <a:txBody>
                    <a:bodyPr wrap="square"/>
                    <a:lstStyle/>
                    <a:p>
                      <a:r>
                        <a:rPr sz="1400" b="0">
                          <a:solidFill>
                            <a:srgbClr val="E2E8F0"/>
                          </a:solidFill>
                        </a:rPr>
                        <a:t>201  position</a:t>
                      </a:r>
                    </a:p>
                  </a:txBody>
                  <a:tcPr marL="73152" marR="73152" anchor="ctr">
                    <a:solidFill>
                      <a:srgbClr val="131C2E"/>
                    </a:solidFill>
                  </a:tcPr>
                </a:tc>
                <a:tc>
                  <a:txBody>
                    <a:bodyPr wrap="square"/>
                    <a:lstStyle/>
                    <a:p>
                      <a:r>
                        <a:rPr sz="1400" b="0">
                          <a:solidFill>
                            <a:srgbClr val="E2E8F0"/>
                          </a:solidFill>
                        </a:rPr>
                        <a:t>normalized (row, col) of this candidate</a:t>
                      </a:r>
                    </a:p>
                  </a:txBody>
                  <a:tcPr marL="73152" marR="73152" anchor="ctr">
                    <a:solidFill>
                      <a:srgbClr val="131C2E"/>
                    </a:solidFill>
                  </a:tcPr>
                </a:tc>
              </a:tr>
              <a:tr h="502920">
                <a:tc>
                  <a:txBody>
                    <a:bodyPr wrap="square"/>
                    <a:lstStyle/>
                    <a:p>
                      <a:r>
                        <a:rPr sz="1400" b="0">
                          <a:solidFill>
                            <a:srgbClr val="E2E8F0"/>
                          </a:solidFill>
                        </a:rPr>
                        <a:t>202  surface</a:t>
                      </a:r>
                    </a:p>
                  </a:txBody>
                  <a:tcPr marL="73152" marR="73152" anchor="ctr">
                    <a:solidFill>
                      <a:srgbClr val="0B1220"/>
                    </a:solidFill>
                  </a:tcPr>
                </a:tc>
                <a:tc>
                  <a:txBody>
                    <a:bodyPr wrap="square"/>
                    <a:lstStyle/>
                    <a:p>
                      <a:r>
                        <a:rPr sz="1400" b="0">
                          <a:solidFill>
                            <a:srgbClr val="E2E8F0"/>
                          </a:solidFill>
                        </a:rPr>
                        <a:t>10 column heights of the current stack</a:t>
                      </a:r>
                    </a:p>
                  </a:txBody>
                  <a:tcPr marL="73152" marR="73152" anchor="ctr">
                    <a:solidFill>
                      <a:srgbClr val="0B1220"/>
                    </a:solidFill>
                  </a:tcPr>
                </a:tc>
              </a:tr>
              <a:tr h="502920">
                <a:tc>
                  <a:txBody>
                    <a:bodyPr wrap="square"/>
                    <a:lstStyle/>
                    <a:p>
                      <a:r>
                        <a:rPr sz="1400" b="0">
                          <a:solidFill>
                            <a:srgbClr val="E2E8F0"/>
                          </a:solidFill>
                        </a:rPr>
                        <a:t>203  holefit</a:t>
                      </a:r>
                    </a:p>
                  </a:txBody>
                  <a:tcPr marL="73152" marR="73152" anchor="ctr">
                    <a:solidFill>
                      <a:srgbClr val="131C2E"/>
                    </a:solidFill>
                  </a:tcPr>
                </a:tc>
                <a:tc>
                  <a:txBody>
                    <a:bodyPr wrap="square"/>
                    <a:lstStyle/>
                    <a:p>
                      <a:r>
                        <a:rPr sz="1400" b="0">
                          <a:solidFill>
                            <a:srgbClr val="E2E8F0"/>
                          </a:solidFill>
                        </a:rPr>
                        <a:t>5-d: holes created/filled, roughness Δ, clean landing</a:t>
                      </a:r>
                    </a:p>
                  </a:txBody>
                  <a:tcPr marL="73152" marR="73152" anchor="ctr">
                    <a:solidFill>
                      <a:srgbClr val="131C2E"/>
                    </a:solidFill>
                  </a:tcPr>
                </a:tc>
              </a:tr>
            </a:tbl>
          </a:graphicData>
        </a:graphic>
      </p:graphicFrame>
      <p:sp>
        <p:nvSpPr>
          <p:cNvPr id="6" name="Rounded Rectangle 5"/>
          <p:cNvSpPr/>
          <p:nvPr/>
        </p:nvSpPr>
        <p:spPr>
          <a:xfrm>
            <a:off x="6492240" y="1463040"/>
            <a:ext cx="5303520" cy="192024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400">
                <a:solidFill>
                  <a:srgbClr val="E2E8F0"/>
                </a:solidFill>
                <a:latin typeface="Consolas"/>
              </a:rPr>
              <a:t>(B, 204, 64)</a:t>
            </a:r>
          </a:p>
          <a:p>
            <a:pPr algn="l"/>
            <a:r>
              <a:rPr sz="1400">
                <a:solidFill>
                  <a:srgbClr val="E2E8F0"/>
                </a:solidFill>
                <a:latin typeface="Consolas"/>
              </a:rPr>
              <a:t>  ×2  MultiHeadAttention (4 heads) + LN + FFN</a:t>
            </a:r>
          </a:p>
          <a:p>
            <a:pPr algn="l"/>
            <a:r>
              <a:rPr sz="1400">
                <a:solidFill>
                  <a:srgbClr val="E2E8F0"/>
                </a:solidFill>
                <a:latin typeface="Consolas"/>
              </a:rPr>
              <a:t>  global avg pool → MLP</a:t>
            </a:r>
          </a:p>
          <a:p>
            <a:pPr algn="l"/>
            <a:r>
              <a:rPr sz="1400">
                <a:solidFill>
                  <a:srgbClr val="E2E8F0"/>
                </a:solidFill>
                <a:latin typeface="Consolas"/>
              </a:rPr>
              <a:t>  → score | lines_cleared | holes_created</a:t>
            </a:r>
          </a:p>
        </p:txBody>
      </p:sp>
      <p:sp>
        <p:nvSpPr>
          <p:cNvPr id="7" name="TextBox 6"/>
          <p:cNvSpPr txBox="1"/>
          <p:nvPr/>
        </p:nvSpPr>
        <p:spPr>
          <a:xfrm>
            <a:off x="6492240" y="3566160"/>
            <a:ext cx="5303520" cy="3017520"/>
          </a:xfrm>
          <a:prstGeom prst="rect">
            <a:avLst/>
          </a:prstGeom>
          <a:noFill/>
        </p:spPr>
        <p:txBody>
          <a:bodyPr wrap="square">
            <a:spAutoFit/>
          </a:bodyPr>
          <a:lstStyle/>
          <a:p>
            <a:pPr>
              <a:spcAft>
                <a:spcPts val="900"/>
              </a:spcAft>
            </a:pPr>
            <a:r>
              <a:rPr sz="1600" b="0">
                <a:solidFill>
                  <a:srgbClr val="E2E8F0"/>
                </a:solidFill>
              </a:rPr>
              <a:t>•  Shipped: </a:t>
            </a:r>
            <a:r>
              <a:rPr sz="1500" b="0">
                <a:solidFill>
                  <a:srgbClr val="E2E8F0"/>
                </a:solidFill>
                <a:latin typeface="Consolas"/>
              </a:rPr>
              <a:t>d_model=64</a:t>
            </a:r>
            <a:r>
              <a:rPr sz="1600" b="0">
                <a:solidFill>
                  <a:srgbClr val="E2E8F0"/>
                </a:solidFill>
              </a:rPr>
              <a:t>, 4 heads, 2 layers (small)</a:t>
            </a:r>
          </a:p>
          <a:p>
            <a:pPr>
              <a:spcAft>
                <a:spcPts val="900"/>
              </a:spcAft>
            </a:pPr>
            <a:r>
              <a:rPr sz="1600" b="0">
                <a:solidFill>
                  <a:srgbClr val="E2E8F0"/>
                </a:solidFill>
              </a:rPr>
              <a:t>•  Aux heads point attention at the two things that matter: </a:t>
            </a:r>
            <a:r>
              <a:rPr sz="1600" b="1">
                <a:solidFill>
                  <a:srgbClr val="67E8F9"/>
                </a:solidFill>
              </a:rPr>
              <a:t>clears</a:t>
            </a:r>
            <a:r>
              <a:rPr sz="1600" b="0">
                <a:solidFill>
                  <a:srgbClr val="E2E8F0"/>
                </a:solidFill>
              </a:rPr>
              <a:t> and </a:t>
            </a:r>
            <a:r>
              <a:rPr sz="1600" b="1">
                <a:solidFill>
                  <a:srgbClr val="67E8F9"/>
                </a:solidFill>
              </a:rPr>
              <a:t>holes</a:t>
            </a:r>
          </a:p>
          <a:p>
            <a:pPr>
              <a:spcAft>
                <a:spcPts val="900"/>
              </a:spcAft>
            </a:pPr>
            <a:r>
              <a:rPr sz="1600" b="0">
                <a:solidFill>
                  <a:srgbClr val="E2E8F0"/>
                </a:solidFill>
              </a:rPr>
              <a:t>•  Every candidate comes from the BFS engine, so every move is legal </a:t>
            </a:r>
            <a:r>
              <a:rPr sz="1600" b="1">
                <a:solidFill>
                  <a:srgbClr val="67E8F9"/>
                </a:solidFill>
              </a:rPr>
              <a:t>by construction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Contrastive training: the crucial change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Label every legal candidate, good and bad, on the same board</a:t>
            </a:r>
          </a:p>
        </p:txBody>
      </p:sp>
      <p:sp>
        <p:nvSpPr>
          <p:cNvPr id="5" name="Rounded Rectangle 4"/>
          <p:cNvSpPr/>
          <p:nvPr/>
        </p:nvSpPr>
        <p:spPr>
          <a:xfrm>
            <a:off x="502920" y="1737360"/>
            <a:ext cx="2377440" cy="1188720"/>
          </a:xfrm>
          <a:prstGeom prst="roundRect">
            <a:avLst>
              <a:gd name="adj" fmla="val 12000"/>
            </a:avLst>
          </a:prstGeom>
          <a:solidFill>
            <a:srgbClr val="131C2E"/>
          </a:solidFill>
          <a:ln w="2540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0">
                <a:solidFill>
                  <a:srgbClr val="E2E8F0"/>
                </a:solidFill>
              </a:rPr>
              <a:t>Board from a</a:t>
            </a:r>
          </a:p>
          <a:p>
            <a:pPr algn="ctr"/>
            <a:r>
              <a:rPr sz="1600" b="0">
                <a:solidFill>
                  <a:srgbClr val="E2E8F0"/>
                </a:solidFill>
              </a:rPr>
              <a:t>clean game</a:t>
            </a:r>
          </a:p>
        </p:txBody>
      </p:sp>
      <p:sp>
        <p:nvSpPr>
          <p:cNvPr id="6" name="Right Arrow 5"/>
          <p:cNvSpPr/>
          <p:nvPr/>
        </p:nvSpPr>
        <p:spPr>
          <a:xfrm>
            <a:off x="2926080" y="2194560"/>
            <a:ext cx="45720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29000" y="1737360"/>
            <a:ext cx="2377440" cy="1188720"/>
          </a:xfrm>
          <a:prstGeom prst="roundRect">
            <a:avLst>
              <a:gd name="adj" fmla="val 12000"/>
            </a:avLst>
          </a:prstGeom>
          <a:solidFill>
            <a:srgbClr val="131C2E"/>
          </a:solidFill>
          <a:ln w="25400">
            <a:solidFill>
              <a:srgbClr val="67E8F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0">
                <a:solidFill>
                  <a:srgbClr val="E2E8F0"/>
                </a:solidFill>
              </a:rPr>
              <a:t>Enumerate ALL</a:t>
            </a:r>
          </a:p>
          <a:p>
            <a:pPr algn="ctr"/>
            <a:r>
              <a:rPr sz="1600" b="0">
                <a:solidFill>
                  <a:srgbClr val="E2E8F0"/>
                </a:solidFill>
              </a:rPr>
              <a:t>legal candidates</a:t>
            </a:r>
          </a:p>
        </p:txBody>
      </p:sp>
      <p:sp>
        <p:nvSpPr>
          <p:cNvPr id="8" name="Right Arrow 7"/>
          <p:cNvSpPr/>
          <p:nvPr/>
        </p:nvSpPr>
        <p:spPr>
          <a:xfrm>
            <a:off x="5852160" y="2194560"/>
            <a:ext cx="45720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1737360"/>
            <a:ext cx="2377440" cy="1188720"/>
          </a:xfrm>
          <a:prstGeom prst="roundRect">
            <a:avLst>
              <a:gd name="adj" fmla="val 12000"/>
            </a:avLst>
          </a:prstGeom>
          <a:solidFill>
            <a:srgbClr val="131C2E"/>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0">
                <a:solidFill>
                  <a:srgbClr val="E2E8F0"/>
                </a:solidFill>
              </a:rPr>
              <a:t>Simulate each;</a:t>
            </a:r>
          </a:p>
          <a:p>
            <a:pPr algn="ctr"/>
            <a:r>
              <a:rPr sz="1600" b="0">
                <a:solidFill>
                  <a:srgbClr val="E2E8F0"/>
                </a:solidFill>
              </a:rPr>
              <a:t>shaped reward label</a:t>
            </a:r>
          </a:p>
        </p:txBody>
      </p:sp>
      <p:sp>
        <p:nvSpPr>
          <p:cNvPr id="10" name="Right Arrow 9"/>
          <p:cNvSpPr/>
          <p:nvPr/>
        </p:nvSpPr>
        <p:spPr>
          <a:xfrm>
            <a:off x="8778240" y="2194560"/>
            <a:ext cx="45720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81160" y="1737360"/>
            <a:ext cx="2377440" cy="1188720"/>
          </a:xfrm>
          <a:prstGeom prst="roundRect">
            <a:avLst>
              <a:gd name="adj" fmla="val 12000"/>
            </a:avLst>
          </a:prstGeom>
          <a:solidFill>
            <a:srgbClr val="131C2E"/>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0">
                <a:solidFill>
                  <a:srgbClr val="E2E8F0"/>
                </a:solidFill>
              </a:rPr>
              <a:t>Train scorer on</a:t>
            </a:r>
          </a:p>
          <a:p>
            <a:pPr algn="ctr"/>
            <a:r>
              <a:rPr sz="1600" b="0">
                <a:solidFill>
                  <a:srgbClr val="E2E8F0"/>
                </a:solidFill>
              </a:rPr>
              <a:t>all of them</a:t>
            </a:r>
          </a:p>
        </p:txBody>
      </p:sp>
      <p:sp>
        <p:nvSpPr>
          <p:cNvPr id="12" name="TextBox 11"/>
          <p:cNvSpPr txBox="1"/>
          <p:nvPr/>
        </p:nvSpPr>
        <p:spPr>
          <a:xfrm>
            <a:off x="502920" y="3383280"/>
            <a:ext cx="6583680" cy="3200400"/>
          </a:xfrm>
          <a:prstGeom prst="rect">
            <a:avLst/>
          </a:prstGeom>
          <a:noFill/>
        </p:spPr>
        <p:txBody>
          <a:bodyPr wrap="square">
            <a:spAutoFit/>
          </a:bodyPr>
          <a:lstStyle/>
          <a:p>
            <a:pPr>
              <a:spcAft>
                <a:spcPts val="900"/>
              </a:spcAft>
            </a:pPr>
            <a:r>
              <a:rPr sz="1700" b="0">
                <a:solidFill>
                  <a:srgbClr val="E2E8F0"/>
                </a:solidFill>
              </a:rPr>
              <a:t>•  Label: shaped score where </a:t>
            </a:r>
            <a:r>
              <a:rPr sz="1700" b="1">
                <a:solidFill>
                  <a:srgbClr val="67E8F9"/>
                </a:solidFill>
              </a:rPr>
              <a:t>line clears dominate</a:t>
            </a:r>
            <a:r>
              <a:rPr sz="1700" b="0">
                <a:solidFill>
                  <a:srgbClr val="E2E8F0"/>
                </a:solidFill>
              </a:rPr>
              <a:t>, holes punished, near-full rows rewarded</a:t>
            </a:r>
          </a:p>
          <a:p>
            <a:pPr>
              <a:spcAft>
                <a:spcPts val="900"/>
              </a:spcAft>
            </a:pPr>
            <a:r>
              <a:rPr sz="1700" b="0">
                <a:solidFill>
                  <a:srgbClr val="E2E8F0"/>
                </a:solidFill>
              </a:rPr>
              <a:t>•  60 clean games → </a:t>
            </a:r>
            <a:r>
              <a:rPr sz="1700" b="1">
                <a:solidFill>
                  <a:srgbClr val="67E8F9"/>
                </a:solidFill>
              </a:rPr>
              <a:t>51,812</a:t>
            </a:r>
            <a:r>
              <a:rPr sz="1700" b="0">
                <a:solidFill>
                  <a:srgbClr val="E2E8F0"/>
                </a:solidFill>
              </a:rPr>
              <a:t> candidate examples; 20 epochs</a:t>
            </a:r>
          </a:p>
          <a:p>
            <a:pPr>
              <a:spcAft>
                <a:spcPts val="900"/>
              </a:spcAft>
            </a:pPr>
            <a:r>
              <a:rPr sz="1700" b="0">
                <a:solidFill>
                  <a:srgbClr val="E2E8F0"/>
                </a:solidFill>
              </a:rPr>
              <a:t>•  The model learns the </a:t>
            </a:r>
            <a:r>
              <a:rPr sz="1700" b="1">
                <a:solidFill>
                  <a:srgbClr val="67E8F9"/>
                </a:solidFill>
              </a:rPr>
              <a:t>difference</a:t>
            </a:r>
            <a:r>
              <a:rPr sz="1700" b="0">
                <a:solidFill>
                  <a:srgbClr val="E2E8F0"/>
                </a:solidFill>
              </a:rPr>
              <a:t> between moves, not an average of demonstrations</a:t>
            </a:r>
          </a:p>
          <a:p>
            <a:pPr>
              <a:spcAft>
                <a:spcPts val="900"/>
              </a:spcAft>
            </a:pPr>
            <a:r>
              <a:rPr sz="1700" b="0">
                <a:solidFill>
                  <a:srgbClr val="E2E8F0"/>
                </a:solidFill>
              </a:rPr>
              <a:t>•  A learned version of the heuristic's </a:t>
            </a:r>
            <a:r>
              <a:rPr sz="1600" b="0">
                <a:solidFill>
                  <a:srgbClr val="E2E8F0"/>
                </a:solidFill>
                <a:latin typeface="Consolas"/>
              </a:rPr>
              <a:t>evaluate_placement</a:t>
            </a:r>
          </a:p>
        </p:txBody>
      </p:sp>
      <p:sp>
        <p:nvSpPr>
          <p:cNvPr id="13" name="Rounded Rectangle 12"/>
          <p:cNvSpPr/>
          <p:nvPr/>
        </p:nvSpPr>
        <p:spPr>
          <a:xfrm>
            <a:off x="7498079" y="3474720"/>
            <a:ext cx="4206240" cy="2377440"/>
          </a:xfrm>
          <a:prstGeom prst="roundRect">
            <a:avLst>
              <a:gd name="adj" fmla="val 12000"/>
            </a:avLst>
          </a:prstGeom>
          <a:solidFill>
            <a:srgbClr val="131C2E"/>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900" b="0">
                <a:solidFill>
                  <a:srgbClr val="E2E8F0"/>
                </a:solidFill>
              </a:rPr>
              <a:t>VAE: "what would the teacher do?"</a:t>
            </a:r>
          </a:p>
          <a:p>
            <a:pPr algn="ctr"/>
            <a:r>
              <a:rPr sz="1900" b="0">
                <a:solidFill>
                  <a:srgbClr val="E2E8F0"/>
                </a:solidFill>
              </a:rPr>
              <a:t> </a:t>
            </a:r>
          </a:p>
          <a:p>
            <a:pPr algn="ctr"/>
            <a:r>
              <a:rPr sz="1900" b="0">
                <a:solidFill>
                  <a:srgbClr val="E2E8F0"/>
                </a:solidFill>
              </a:rPr>
              <a:t>Transformer: "</a:t>
            </a:r>
            <a:r>
              <a:rPr sz="1900" b="1">
                <a:solidFill>
                  <a:srgbClr val="67E8F9"/>
                </a:solidFill>
              </a:rPr>
              <a:t>how good is each option?</a:t>
            </a:r>
            <a:r>
              <a:rPr sz="1900" b="0">
                <a:solidFill>
                  <a:srgbClr val="E2E8F0"/>
                </a:solidFill>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Result: 96–157 lines</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Mixed all-piece games; ~94% of placed cells end in cleared lines</a:t>
            </a:r>
          </a:p>
        </p:txBody>
      </p:sp>
      <p:pic>
        <p:nvPicPr>
          <p:cNvPr id="5" name="Picture 4" descr="transformer_runs.png"/>
          <p:cNvPicPr>
            <a:picLocks noChangeAspect="1"/>
          </p:cNvPicPr>
          <p:nvPr/>
        </p:nvPicPr>
        <p:blipFill>
          <a:blip r:embed="rId3"/>
          <a:stretch>
            <a:fillRect/>
          </a:stretch>
        </p:blipFill>
        <p:spPr>
          <a:xfrm>
            <a:off x="502920" y="1511497"/>
            <a:ext cx="6583680" cy="3652125"/>
          </a:xfrm>
          <a:prstGeom prst="rect">
            <a:avLst/>
          </a:prstGeom>
        </p:spPr>
      </p:pic>
      <p:sp>
        <p:nvSpPr>
          <p:cNvPr id="6" name="TextBox 5"/>
          <p:cNvSpPr txBox="1"/>
          <p:nvPr/>
        </p:nvSpPr>
        <p:spPr>
          <a:xfrm>
            <a:off x="7315200" y="1554480"/>
            <a:ext cx="4572000" cy="5029200"/>
          </a:xfrm>
          <a:prstGeom prst="rect">
            <a:avLst/>
          </a:prstGeom>
          <a:noFill/>
        </p:spPr>
        <p:txBody>
          <a:bodyPr wrap="square">
            <a:spAutoFit/>
          </a:bodyPr>
          <a:lstStyle/>
          <a:p>
            <a:pPr>
              <a:spcAft>
                <a:spcPts val="800"/>
              </a:spcAft>
            </a:pPr>
            <a:r>
              <a:rPr sz="1700" b="0">
                <a:solidFill>
                  <a:srgbClr val="E2E8F0"/>
                </a:solidFill>
              </a:rPr>
              <a:t>•  3 of 4 runs </a:t>
            </a:r>
            <a:r>
              <a:rPr sz="1700" b="1">
                <a:solidFill>
                  <a:srgbClr val="67E8F9"/>
                </a:solidFill>
              </a:rPr>
              <a:t>hit the move cap still playing</a:t>
            </a:r>
          </a:p>
          <a:p>
            <a:pPr>
              <a:spcAft>
                <a:spcPts val="800"/>
              </a:spcAft>
            </a:pPr>
            <a:r>
              <a:rPr sz="1700" b="0">
                <a:solidFill>
                  <a:srgbClr val="E2E8F0"/>
                </a:solidFill>
              </a:rPr>
              <a:t>•  API cross-check (119 lines / 300 pieces) confirms it's real</a:t>
            </a:r>
          </a:p>
          <a:p>
            <a:pPr>
              <a:spcAft>
                <a:spcPts val="800"/>
              </a:spcAft>
            </a:pPr>
            <a:r>
              <a:rPr sz="1700" b="0">
                <a:solidFill>
                  <a:srgbClr val="E2E8F0"/>
                </a:solidFill>
              </a:rPr>
              <a:t>•  Why it works:</a:t>
            </a:r>
          </a:p>
          <a:p>
            <a:pPr lvl="1">
              <a:spcAft>
                <a:spcPts val="800"/>
              </a:spcAft>
            </a:pPr>
            <a:r>
              <a:rPr sz="1500" b="0">
                <a:solidFill>
                  <a:srgbClr val="94A3B8"/>
                </a:solidFill>
              </a:rPr>
              <a:t>–  </a:t>
            </a:r>
            <a:r>
              <a:rPr sz="1500" b="1">
                <a:solidFill>
                  <a:srgbClr val="67E8F9"/>
                </a:solidFill>
              </a:rPr>
              <a:t>No covariate shift by construction</a:t>
            </a:r>
            <a:r>
              <a:rPr sz="1500" b="0">
                <a:solidFill>
                  <a:srgbClr val="94A3B8"/>
                </a:solidFill>
              </a:rPr>
              <a:t>: judges each legal option, stays valid on weird boards</a:t>
            </a:r>
          </a:p>
          <a:p>
            <a:pPr lvl="1">
              <a:spcAft>
                <a:spcPts val="800"/>
              </a:spcAft>
            </a:pPr>
            <a:r>
              <a:rPr sz="1500" b="0">
                <a:solidFill>
                  <a:srgbClr val="94A3B8"/>
                </a:solidFill>
              </a:rPr>
              <a:t>–  </a:t>
            </a:r>
            <a:r>
              <a:rPr sz="1500" b="1">
                <a:solidFill>
                  <a:srgbClr val="67E8F9"/>
                </a:solidFill>
              </a:rPr>
              <a:t>Contrastive supervision</a:t>
            </a:r>
            <a:r>
              <a:rPr sz="1500" b="0">
                <a:solidFill>
                  <a:srgbClr val="94A3B8"/>
                </a:solidFill>
              </a:rPr>
              <a:t> teaches a real value function</a:t>
            </a:r>
          </a:p>
          <a:p>
            <a:pPr lvl="1">
              <a:spcAft>
                <a:spcPts val="800"/>
              </a:spcAft>
            </a:pPr>
            <a:r>
              <a:rPr sz="1500" b="0">
                <a:solidFill>
                  <a:srgbClr val="94A3B8"/>
                </a:solidFill>
              </a:rPr>
              <a:t>–  </a:t>
            </a:r>
            <a:r>
              <a:rPr sz="1500" b="1">
                <a:solidFill>
                  <a:srgbClr val="67E8F9"/>
                </a:solidFill>
              </a:rPr>
              <a:t>Right features</a:t>
            </a:r>
            <a:r>
              <a:rPr sz="1500" b="0">
                <a:solidFill>
                  <a:srgbClr val="94A3B8"/>
                </a:solidFill>
              </a:rPr>
              <a:t>: surface + hole-fit + clear/hole heads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Single-piece games: GAN vs transformer</a:t>
            </a:r>
          </a:p>
        </p:txBody>
      </p:sp>
      <p:pic>
        <p:nvPicPr>
          <p:cNvPr id="4" name="Picture 3" descr="per_piece.png"/>
          <p:cNvPicPr>
            <a:picLocks noChangeAspect="1"/>
          </p:cNvPicPr>
          <p:nvPr/>
        </p:nvPicPr>
        <p:blipFill>
          <a:blip r:embed="rId3"/>
          <a:stretch>
            <a:fillRect/>
          </a:stretch>
        </p:blipFill>
        <p:spPr>
          <a:xfrm>
            <a:off x="502920" y="1272324"/>
            <a:ext cx="7315200" cy="4039031"/>
          </a:xfrm>
          <a:prstGeom prst="rect">
            <a:avLst/>
          </a:prstGeom>
        </p:spPr>
      </p:pic>
      <p:sp>
        <p:nvSpPr>
          <p:cNvPr id="5" name="TextBox 4"/>
          <p:cNvSpPr txBox="1"/>
          <p:nvPr/>
        </p:nvSpPr>
        <p:spPr>
          <a:xfrm>
            <a:off x="8046720" y="1463040"/>
            <a:ext cx="3931920" cy="5120640"/>
          </a:xfrm>
          <a:prstGeom prst="rect">
            <a:avLst/>
          </a:prstGeom>
          <a:noFill/>
        </p:spPr>
        <p:txBody>
          <a:bodyPr wrap="square">
            <a:spAutoFit/>
          </a:bodyPr>
          <a:lstStyle/>
          <a:p>
            <a:pPr>
              <a:spcAft>
                <a:spcPts val="1000"/>
              </a:spcAft>
            </a:pPr>
            <a:r>
              <a:rPr sz="1600" b="0">
                <a:solidFill>
                  <a:srgbClr val="E2E8F0"/>
                </a:solidFill>
              </a:rPr>
              <a:t>•  </a:t>
            </a:r>
            <a:r>
              <a:rPr sz="1600" b="1">
                <a:solidFill>
                  <a:srgbClr val="67E8F9"/>
                </a:solidFill>
              </a:rPr>
              <a:t>I / O / L solved</a:t>
            </a:r>
            <a:r>
              <a:rPr sz="1600" b="0">
                <a:solidFill>
                  <a:srgbClr val="E2E8F0"/>
                </a:solidFill>
              </a:rPr>
              <a:t>: 80 lines at the cap, ≈2.5 pieces/line (optimal)</a:t>
            </a:r>
          </a:p>
          <a:p>
            <a:pPr>
              <a:spcAft>
                <a:spcPts val="1000"/>
              </a:spcAft>
            </a:pPr>
            <a:r>
              <a:rPr sz="1600" b="0">
                <a:solidFill>
                  <a:srgbClr val="E2E8F0"/>
                </a:solidFill>
              </a:rPr>
              <a:t>•  </a:t>
            </a:r>
            <a:r>
              <a:rPr sz="1600" b="1">
                <a:solidFill>
                  <a:srgbClr val="67E8F9"/>
                </a:solidFill>
              </a:rPr>
              <a:t>S / Z = 0</a:t>
            </a:r>
            <a:r>
              <a:rPr sz="1600" b="0">
                <a:solidFill>
                  <a:srgbClr val="E2E8F0"/>
                </a:solidFill>
              </a:rPr>
              <a:t> is a property of the pieces: a single S or Z stream can't fill a flat row without overhangs</a:t>
            </a:r>
          </a:p>
          <a:p>
            <a:pPr>
              <a:spcAft>
                <a:spcPts val="1000"/>
              </a:spcAft>
            </a:pPr>
            <a:r>
              <a:rPr sz="1600" b="0">
                <a:solidFill>
                  <a:srgbClr val="E2E8F0"/>
                </a:solidFill>
              </a:rPr>
              <a:t>•  GAN: more reliable single-piece than mixed (never 0) but tops out at 29–40 pieces</a:t>
            </a:r>
          </a:p>
          <a:p>
            <a:pPr>
              <a:spcAft>
                <a:spcPts val="1000"/>
              </a:spcAft>
            </a:pPr>
            <a:r>
              <a:rPr sz="1600" b="0">
                <a:solidFill>
                  <a:srgbClr val="E2E8F0"/>
                </a:solidFill>
              </a:rPr>
              <a:t>•  The per-piece profile </a:t>
            </a:r>
            <a:r>
              <a:rPr sz="1600" b="1">
                <a:solidFill>
                  <a:srgbClr val="67E8F9"/>
                </a:solidFill>
              </a:rPr>
              <a:t>inverts</a:t>
            </a:r>
            <a:r>
              <a:rPr sz="1600" b="0">
                <a:solidFill>
                  <a:srgbClr val="E2E8F0"/>
                </a:solidFill>
              </a:rPr>
              <a:t> (GAN best on 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Same candidates, different question</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almost_line + I: what each model prefers at every resting cell (brighter = preferred)</a:t>
            </a:r>
          </a:p>
        </p:txBody>
      </p:sp>
      <p:pic>
        <p:nvPicPr>
          <p:cNvPr id="5" name="Picture 4" descr="heat_almost_line.png"/>
          <p:cNvPicPr>
            <a:picLocks noChangeAspect="1"/>
          </p:cNvPicPr>
          <p:nvPr/>
        </p:nvPicPr>
        <p:blipFill>
          <a:blip r:embed="rId3"/>
          <a:stretch>
            <a:fillRect/>
          </a:stretch>
        </p:blipFill>
        <p:spPr>
          <a:xfrm>
            <a:off x="667559" y="1325880"/>
            <a:ext cx="5705761" cy="5394960"/>
          </a:xfrm>
          <a:prstGeom prst="rect">
            <a:avLst/>
          </a:prstGeom>
        </p:spPr>
      </p:pic>
      <p:sp>
        <p:nvSpPr>
          <p:cNvPr id="6" name="TextBox 5"/>
          <p:cNvSpPr txBox="1"/>
          <p:nvPr/>
        </p:nvSpPr>
        <p:spPr>
          <a:xfrm>
            <a:off x="6766560" y="1645920"/>
            <a:ext cx="5120640" cy="4937760"/>
          </a:xfrm>
          <a:prstGeom prst="rect">
            <a:avLst/>
          </a:prstGeom>
          <a:noFill/>
        </p:spPr>
        <p:txBody>
          <a:bodyPr wrap="square">
            <a:spAutoFit/>
          </a:bodyPr>
          <a:lstStyle/>
          <a:p>
            <a:pPr>
              <a:spcAft>
                <a:spcPts val="1200"/>
              </a:spcAft>
            </a:pPr>
            <a:r>
              <a:rPr sz="1700" b="0">
                <a:solidFill>
                  <a:srgbClr val="E2E8F0"/>
                </a:solidFill>
              </a:rPr>
              <a:t>•  Both models see </a:t>
            </a:r>
            <a:r>
              <a:rPr sz="1700" b="1">
                <a:solidFill>
                  <a:srgbClr val="67E8F9"/>
                </a:solidFill>
              </a:rPr>
              <a:t>the same BFS candidate list</a:t>
            </a:r>
          </a:p>
          <a:p>
            <a:pPr>
              <a:spcAft>
                <a:spcPts val="1200"/>
              </a:spcAft>
            </a:pPr>
            <a:r>
              <a:rPr sz="1700" b="0">
                <a:solidFill>
                  <a:srgbClr val="E2E8F0"/>
                </a:solidFill>
              </a:rPr>
              <a:t>•  VAE: lowest loss = most *teacher-like*, so it picks the center</a:t>
            </a:r>
          </a:p>
          <a:p>
            <a:pPr>
              <a:spcAft>
                <a:spcPts val="1200"/>
              </a:spcAft>
            </a:pPr>
            <a:r>
              <a:rPr sz="1700" b="0">
                <a:solidFill>
                  <a:srgbClr val="E2E8F0"/>
                </a:solidFill>
              </a:rPr>
              <a:t>•  Transformer: highest score = best *outcome*, so it picks column 9 and clears the line</a:t>
            </a:r>
          </a:p>
          <a:p>
            <a:pPr>
              <a:spcAft>
                <a:spcPts val="1200"/>
              </a:spcAft>
            </a:pPr>
            <a:r>
              <a:rPr sz="1700" b="0">
                <a:solidFill>
                  <a:srgbClr val="E2E8F0"/>
                </a:solidFill>
              </a:rPr>
              <a:t>•  Ranking legal moves isn't enough by itself: </a:t>
            </a:r>
            <a:r>
              <a:rPr sz="1700" b="1">
                <a:solidFill>
                  <a:srgbClr val="67E8F9"/>
                </a:solidFill>
              </a:rPr>
              <a:t>what you rank by</a:t>
            </a:r>
            <a:r>
              <a:rPr sz="1700" b="0">
                <a:solidFill>
                  <a:srgbClr val="E2E8F0"/>
                </a:solidFill>
              </a:rPr>
              <a:t> is what matters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Notebook 03 guide: Transformer</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notebooks/03_transformer_training_and_solver.ipynb</a:t>
            </a:r>
          </a:p>
        </p:txBody>
      </p:sp>
      <p:graphicFrame>
        <p:nvGraphicFramePr>
          <p:cNvPr id="5" name="Table 4"/>
          <p:cNvGraphicFramePr>
            <a:graphicFrameLocks noGrp="1"/>
          </p:cNvGraphicFramePr>
          <p:nvPr/>
        </p:nvGraphicFramePr>
        <p:xfrm>
          <a:off x="502920" y="1463040"/>
          <a:ext cx="11155680" cy="4535424"/>
        </p:xfrm>
        <a:graphic>
          <a:graphicData uri="http://schemas.openxmlformats.org/drawingml/2006/table">
            <a:tbl>
              <a:tblPr firstRow="1" bandRow="1">
                <a:tableStyleId>{5C22544A-7EE6-4342-B048-85BDC9FD1C3A}</a:tableStyleId>
              </a:tblPr>
              <a:tblGrid>
                <a:gridCol w="2194560"/>
                <a:gridCol w="4754880"/>
                <a:gridCol w="4206240"/>
              </a:tblGrid>
              <a:tr h="566928">
                <a:tc>
                  <a:txBody>
                    <a:bodyPr wrap="square"/>
                    <a:lstStyle/>
                    <a:p>
                      <a:r>
                        <a:rPr sz="1400" b="1">
                          <a:solidFill>
                            <a:srgbClr val="67E8F9"/>
                          </a:solidFill>
                        </a:rPr>
                        <a:t>Section</a:t>
                      </a:r>
                    </a:p>
                  </a:txBody>
                  <a:tcPr marL="73152" marR="73152" anchor="ctr">
                    <a:solidFill>
                      <a:srgbClr val="1E293B"/>
                    </a:solidFill>
                  </a:tcPr>
                </a:tc>
                <a:tc>
                  <a:txBody>
                    <a:bodyPr wrap="square"/>
                    <a:lstStyle/>
                    <a:p>
                      <a:r>
                        <a:rPr sz="1400" b="1">
                          <a:solidFill>
                            <a:srgbClr val="67E8F9"/>
                          </a:solidFill>
                        </a:rPr>
                        <a:t>What to show</a:t>
                      </a:r>
                    </a:p>
                  </a:txBody>
                  <a:tcPr marL="73152" marR="73152" anchor="ctr">
                    <a:solidFill>
                      <a:srgbClr val="1E293B"/>
                    </a:solidFill>
                  </a:tcPr>
                </a:tc>
                <a:tc>
                  <a:txBody>
                    <a:bodyPr wrap="square"/>
                    <a:lstStyle/>
                    <a:p>
                      <a:r>
                        <a:rPr sz="1400" b="1">
                          <a:solidFill>
                            <a:srgbClr val="67E8F9"/>
                          </a:solidFill>
                        </a:rPr>
                        <a:t>Talking point</a:t>
                      </a:r>
                    </a:p>
                  </a:txBody>
                  <a:tcPr marL="73152" marR="73152" anchor="ctr">
                    <a:solidFill>
                      <a:srgbClr val="1E293B"/>
                    </a:solidFill>
                  </a:tcPr>
                </a:tc>
              </a:tr>
              <a:tr h="566928">
                <a:tc>
                  <a:txBody>
                    <a:bodyPr wrap="square"/>
                    <a:lstStyle/>
                    <a:p>
                      <a:r>
                        <a:rPr sz="1400" b="0">
                          <a:solidFill>
                            <a:srgbClr val="E2E8F0"/>
                          </a:solidFill>
                        </a:rPr>
                        <a:t>2. Feature design</a:t>
                      </a:r>
                    </a:p>
                  </a:txBody>
                  <a:tcPr marL="73152" marR="73152" anchor="ctr">
                    <a:solidFill>
                      <a:srgbClr val="131C2E"/>
                    </a:solidFill>
                  </a:tcPr>
                </a:tc>
                <a:tc>
                  <a:txBody>
                    <a:bodyPr wrap="square"/>
                    <a:lstStyle/>
                    <a:p>
                      <a:r>
                        <a:rPr sz="1400" b="0">
                          <a:solidFill>
                            <a:srgbClr val="E2E8F0"/>
                          </a:solidFill>
                        </a:rPr>
                        <a:t>candidate_features / candidate_labels for one board</a:t>
                      </a:r>
                    </a:p>
                  </a:txBody>
                  <a:tcPr marL="73152" marR="73152" anchor="ctr">
                    <a:solidFill>
                      <a:srgbClr val="131C2E"/>
                    </a:solidFill>
                  </a:tcPr>
                </a:tc>
                <a:tc>
                  <a:txBody>
                    <a:bodyPr wrap="square"/>
                    <a:lstStyle/>
                    <a:p>
                      <a:r>
                        <a:rPr sz="1400" b="0">
                          <a:solidFill>
                            <a:srgbClr val="E2E8F0"/>
                          </a:solidFill>
                        </a:rPr>
                        <a:t>Designed tokens, not raw pixels only</a:t>
                      </a:r>
                    </a:p>
                  </a:txBody>
                  <a:tcPr marL="73152" marR="73152" anchor="ctr">
                    <a:solidFill>
                      <a:srgbClr val="131C2E"/>
                    </a:solidFill>
                  </a:tcPr>
                </a:tc>
              </a:tr>
              <a:tr h="566928">
                <a:tc>
                  <a:txBody>
                    <a:bodyPr wrap="square"/>
                    <a:lstStyle/>
                    <a:p>
                      <a:r>
                        <a:rPr sz="1400" b="0">
                          <a:solidFill>
                            <a:srgbClr val="E2E8F0"/>
                          </a:solidFill>
                        </a:rPr>
                        <a:t>6. Score candidates</a:t>
                      </a:r>
                    </a:p>
                  </a:txBody>
                  <a:tcPr marL="73152" marR="73152" anchor="ctr">
                    <a:solidFill>
                      <a:srgbClr val="0B1220"/>
                    </a:solidFill>
                  </a:tcPr>
                </a:tc>
                <a:tc>
                  <a:txBody>
                    <a:bodyPr wrap="square"/>
                    <a:lstStyle/>
                    <a:p>
                      <a:r>
                        <a:rPr sz="1400" b="0">
                          <a:solidFill>
                            <a:srgbClr val="E2E8F0"/>
                          </a:solidFill>
                        </a:rPr>
                        <a:t>Model score vs teacher label vs simulated lines</a:t>
                      </a:r>
                    </a:p>
                  </a:txBody>
                  <a:tcPr marL="73152" marR="73152" anchor="ctr">
                    <a:solidFill>
                      <a:srgbClr val="0B1220"/>
                    </a:solidFill>
                  </a:tcPr>
                </a:tc>
                <a:tc>
                  <a:txBody>
                    <a:bodyPr wrap="square"/>
                    <a:lstStyle/>
                    <a:p>
                      <a:r>
                        <a:rPr sz="1400" b="0">
                          <a:solidFill>
                            <a:srgbClr val="E2E8F0"/>
                          </a:solidFill>
                        </a:rPr>
                        <a:t>Agreement on the argmax is what matters</a:t>
                      </a:r>
                    </a:p>
                  </a:txBody>
                  <a:tcPr marL="73152" marR="73152" anchor="ctr">
                    <a:solidFill>
                      <a:srgbClr val="0B1220"/>
                    </a:solidFill>
                  </a:tcPr>
                </a:tc>
              </a:tr>
              <a:tr h="566928">
                <a:tc>
                  <a:txBody>
                    <a:bodyPr wrap="square"/>
                    <a:lstStyle/>
                    <a:p>
                      <a:r>
                        <a:rPr sz="1400" b="0">
                          <a:solidFill>
                            <a:srgbClr val="E2E8F0"/>
                          </a:solidFill>
                        </a:rPr>
                        <a:t>7a. Special → board</a:t>
                      </a:r>
                    </a:p>
                  </a:txBody>
                  <a:tcPr marL="73152" marR="73152" anchor="ctr">
                    <a:solidFill>
                      <a:srgbClr val="131C2E"/>
                    </a:solidFill>
                  </a:tcPr>
                </a:tc>
                <a:tc>
                  <a:txBody>
                    <a:bodyPr wrap="square"/>
                    <a:lstStyle/>
                    <a:p>
                      <a:r>
                        <a:rPr sz="1400" b="0">
                          <a:solidFill>
                            <a:srgbClr val="E2E8F0"/>
                          </a:solidFill>
                        </a:rPr>
                        <a:t>piece / position / surface / holefit attention, 20×10</a:t>
                      </a:r>
                    </a:p>
                  </a:txBody>
                  <a:tcPr marL="73152" marR="73152" anchor="ctr">
                    <a:solidFill>
                      <a:srgbClr val="131C2E"/>
                    </a:solidFill>
                  </a:tcPr>
                </a:tc>
                <a:tc>
                  <a:txBody>
                    <a:bodyPr wrap="square"/>
                    <a:lstStyle/>
                    <a:p>
                      <a:r>
                        <a:rPr sz="1400" b="0">
                          <a:solidFill>
                            <a:srgbClr val="E2E8F0"/>
                          </a:solidFill>
                        </a:rPr>
                        <a:t>holefit should hit the landing site</a:t>
                      </a:r>
                    </a:p>
                  </a:txBody>
                  <a:tcPr marL="73152" marR="73152" anchor="ctr">
                    <a:solidFill>
                      <a:srgbClr val="131C2E"/>
                    </a:solidFill>
                  </a:tcPr>
                </a:tc>
              </a:tr>
              <a:tr h="566928">
                <a:tc>
                  <a:txBody>
                    <a:bodyPr wrap="square"/>
                    <a:lstStyle/>
                    <a:p>
                      <a:r>
                        <a:rPr sz="1400" b="0">
                          <a:solidFill>
                            <a:srgbClr val="E2E8F0"/>
                          </a:solidFill>
                        </a:rPr>
                        <a:t>7b. Per-head maps</a:t>
                      </a:r>
                    </a:p>
                  </a:txBody>
                  <a:tcPr marL="73152" marR="73152" anchor="ctr">
                    <a:solidFill>
                      <a:srgbClr val="0B1220"/>
                    </a:solidFill>
                  </a:tcPr>
                </a:tc>
                <a:tc>
                  <a:txBody>
                    <a:bodyPr wrap="square"/>
                    <a:lstStyle/>
                    <a:p>
                      <a:r>
                        <a:rPr sz="1400" b="0">
                          <a:solidFill>
                            <a:srgbClr val="E2E8F0"/>
                          </a:solidFill>
                        </a:rPr>
                        <a:t>Layer-1 cell attention + entropy per head</a:t>
                      </a:r>
                    </a:p>
                  </a:txBody>
                  <a:tcPr marL="73152" marR="73152" anchor="ctr">
                    <a:solidFill>
                      <a:srgbClr val="0B1220"/>
                    </a:solidFill>
                  </a:tcPr>
                </a:tc>
                <a:tc>
                  <a:txBody>
                    <a:bodyPr wrap="square"/>
                    <a:lstStyle/>
                    <a:p>
                      <a:r>
                        <a:rPr sz="1400" b="0">
                          <a:solidFill>
                            <a:srgbClr val="E2E8F0"/>
                          </a:solidFill>
                        </a:rPr>
                        <a:t>Uniform head = unused head</a:t>
                      </a:r>
                    </a:p>
                  </a:txBody>
                  <a:tcPr marL="73152" marR="73152" anchor="ctr">
                    <a:solidFill>
                      <a:srgbClr val="0B1220"/>
                    </a:solidFill>
                  </a:tcPr>
                </a:tc>
              </a:tr>
              <a:tr h="566928">
                <a:tc>
                  <a:txBody>
                    <a:bodyPr wrap="square"/>
                    <a:lstStyle/>
                    <a:p>
                      <a:r>
                        <a:rPr sz="1400" b="0">
                          <a:solidFill>
                            <a:srgbClr val="E2E8F0"/>
                          </a:solidFill>
                        </a:rPr>
                        <a:t>8. Is attention right?</a:t>
                      </a:r>
                    </a:p>
                  </a:txBody>
                  <a:tcPr marL="73152" marR="73152" anchor="ctr">
                    <a:solidFill>
                      <a:srgbClr val="131C2E"/>
                    </a:solidFill>
                  </a:tcPr>
                </a:tc>
                <a:tc>
                  <a:txBody>
                    <a:bodyPr wrap="square"/>
                    <a:lstStyle/>
                    <a:p>
                      <a:r>
                        <a:rPr sz="1400" b="0">
                          <a:solidFill>
                            <a:srgbClr val="E2E8F0"/>
                          </a:solidFill>
                        </a:rPr>
                        <a:t>Landing-site mass; ablate holefit / surface</a:t>
                      </a:r>
                    </a:p>
                  </a:txBody>
                  <a:tcPr marL="73152" marR="73152" anchor="ctr">
                    <a:solidFill>
                      <a:srgbClr val="131C2E"/>
                    </a:solidFill>
                  </a:tcPr>
                </a:tc>
                <a:tc>
                  <a:txBody>
                    <a:bodyPr wrap="square"/>
                    <a:lstStyle/>
                    <a:p>
                      <a:r>
                        <a:rPr sz="1400" b="0">
                          <a:solidFill>
                            <a:srgbClr val="E2E8F0"/>
                          </a:solidFill>
                        </a:rPr>
                        <a:t>Pick flips → the token is used</a:t>
                      </a:r>
                    </a:p>
                  </a:txBody>
                  <a:tcPr marL="73152" marR="73152" anchor="ctr">
                    <a:solidFill>
                      <a:srgbClr val="131C2E"/>
                    </a:solidFill>
                  </a:tcPr>
                </a:tc>
              </a:tr>
              <a:tr h="566928">
                <a:tc>
                  <a:txBody>
                    <a:bodyPr wrap="square"/>
                    <a:lstStyle/>
                    <a:p>
                      <a:r>
                        <a:rPr sz="1400" b="0">
                          <a:solidFill>
                            <a:srgbClr val="E2E8F0"/>
                          </a:solidFill>
                        </a:rPr>
                        <a:t>9. Probes</a:t>
                      </a:r>
                    </a:p>
                  </a:txBody>
                  <a:tcPr marL="73152" marR="73152" anchor="ctr">
                    <a:solidFill>
                      <a:srgbClr val="0B1220"/>
                    </a:solidFill>
                  </a:tcPr>
                </a:tc>
                <a:tc>
                  <a:txBody>
                    <a:bodyPr wrap="square"/>
                    <a:lstStyle/>
                    <a:p>
                      <a:r>
                        <a:rPr sz="1400" b="0">
                          <a:solidFill>
                            <a:srgbClr val="E2E8F0"/>
                          </a:solidFill>
                        </a:rPr>
                        <a:t>right_well+I, bumpy+T, overhang_pocket, real board</a:t>
                      </a:r>
                    </a:p>
                  </a:txBody>
                  <a:tcPr marL="73152" marR="73152" anchor="ctr">
                    <a:solidFill>
                      <a:srgbClr val="0B1220"/>
                    </a:solidFill>
                  </a:tcPr>
                </a:tc>
                <a:tc>
                  <a:txBody>
                    <a:bodyPr wrap="square"/>
                    <a:lstStyle/>
                    <a:p>
                      <a:r>
                        <a:rPr sz="1400" b="0">
                          <a:solidFill>
                            <a:srgbClr val="E2E8F0"/>
                          </a:solidFill>
                        </a:rPr>
                        <a:t>Re-run on any scenario</a:t>
                      </a:r>
                    </a:p>
                  </a:txBody>
                  <a:tcPr marL="73152" marR="73152" anchor="ctr">
                    <a:solidFill>
                      <a:srgbClr val="0B1220"/>
                    </a:solidFill>
                  </a:tcPr>
                </a:tc>
              </a:tr>
              <a:tr h="566928">
                <a:tc>
                  <a:txBody>
                    <a:bodyPr wrap="square"/>
                    <a:lstStyle/>
                    <a:p>
                      <a:r>
                        <a:rPr sz="1400" b="0">
                          <a:solidFill>
                            <a:srgbClr val="E2E8F0"/>
                          </a:solidFill>
                        </a:rPr>
                        <a:t>10. Solver</a:t>
                      </a:r>
                    </a:p>
                  </a:txBody>
                  <a:tcPr marL="73152" marR="73152" anchor="ctr">
                    <a:solidFill>
                      <a:srgbClr val="131C2E"/>
                    </a:solidFill>
                  </a:tcPr>
                </a:tc>
                <a:tc>
                  <a:txBody>
                    <a:bodyPr wrap="square"/>
                    <a:lstStyle/>
                    <a:p>
                      <a:r>
                        <a:rPr sz="1400" b="0">
                          <a:solidFill>
                            <a:srgbClr val="E2E8F0"/>
                          </a:solidFill>
                        </a:rPr>
                        <a:t>40 in-process moves from the scenario</a:t>
                      </a:r>
                    </a:p>
                  </a:txBody>
                  <a:tcPr marL="73152" marR="73152" anchor="ctr">
                    <a:solidFill>
                      <a:srgbClr val="131C2E"/>
                    </a:solidFill>
                  </a:tcPr>
                </a:tc>
                <a:tc>
                  <a:txBody>
                    <a:bodyPr wrap="square"/>
                    <a:lstStyle/>
                    <a:p>
                      <a:r>
                        <a:rPr sz="1400" b="0">
                          <a:solidFill>
                            <a:srgbClr val="E2E8F0"/>
                          </a:solidFill>
                        </a:rPr>
                        <a:t>Compare with notebook 02 §11</a:t>
                      </a:r>
                    </a:p>
                  </a:txBody>
                  <a:tcPr marL="73152" marR="73152" anchor="ctr">
                    <a:solidFill>
                      <a:srgbClr val="131C2E"/>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822960" y="2011680"/>
            <a:ext cx="10058400" cy="548640"/>
          </a:xfrm>
          <a:prstGeom prst="rect">
            <a:avLst/>
          </a:prstGeom>
          <a:noFill/>
        </p:spPr>
        <p:txBody>
          <a:bodyPr wrap="square" anchor="t">
            <a:spAutoFit/>
          </a:bodyPr>
          <a:lstStyle/>
          <a:p>
            <a:pPr algn="l"/>
            <a:r>
              <a:rPr sz="2000" b="1">
                <a:solidFill>
                  <a:srgbClr val="FACC15"/>
                </a:solidFill>
              </a:rPr>
              <a:t>POSTSCRIPT</a:t>
            </a:r>
          </a:p>
        </p:txBody>
      </p:sp>
      <p:sp>
        <p:nvSpPr>
          <p:cNvPr id="3" name="TextBox 2"/>
          <p:cNvSpPr txBox="1"/>
          <p:nvPr/>
        </p:nvSpPr>
        <p:spPr>
          <a:xfrm>
            <a:off x="822960" y="2560320"/>
            <a:ext cx="10515600" cy="1097280"/>
          </a:xfrm>
          <a:prstGeom prst="rect">
            <a:avLst/>
          </a:prstGeom>
          <a:noFill/>
        </p:spPr>
        <p:txBody>
          <a:bodyPr wrap="square" anchor="t">
            <a:spAutoFit/>
          </a:bodyPr>
          <a:lstStyle/>
          <a:p>
            <a:pPr algn="l"/>
            <a:r>
              <a:rPr sz="4400" b="1">
                <a:solidFill>
                  <a:srgbClr val="E2E8F0"/>
                </a:solidFill>
              </a:rPr>
              <a:t>Can we distill the ranker into a generator?</a:t>
            </a:r>
          </a:p>
        </p:txBody>
      </p:sp>
      <p:sp>
        <p:nvSpPr>
          <p:cNvPr id="4" name="TextBox 3"/>
          <p:cNvSpPr txBox="1"/>
          <p:nvPr/>
        </p:nvSpPr>
        <p:spPr>
          <a:xfrm>
            <a:off x="822960" y="3657600"/>
            <a:ext cx="10515600" cy="914400"/>
          </a:xfrm>
          <a:prstGeom prst="rect">
            <a:avLst/>
          </a:prstGeom>
          <a:noFill/>
        </p:spPr>
        <p:txBody>
          <a:bodyPr wrap="square" anchor="t">
            <a:spAutoFit/>
          </a:bodyPr>
          <a:lstStyle/>
          <a:p>
            <a:pPr algn="l"/>
            <a:r>
              <a:rPr sz="2000" b="0">
                <a:solidFill>
                  <a:srgbClr val="94A3B8"/>
                </a:solidFill>
              </a:rPr>
              <a:t>And how the ranker drives the human-style move interface</a:t>
            </a:r>
          </a:p>
        </p:txBody>
      </p:sp>
      <p:sp>
        <p:nvSpPr>
          <p:cNvPr id="5" name="Rectangle 4"/>
          <p:cNvSpPr/>
          <p:nvPr/>
        </p:nvSpPr>
        <p:spPr>
          <a:xfrm>
            <a:off x="822960" y="1874519"/>
            <a:ext cx="1280160" cy="64008"/>
          </a:xfrm>
          <a:prstGeom prst="rect">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Distilled direct policy: plateaus at 5 lines</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Student transformer → (rotation, column), taught by the 150-line ranker</a:t>
            </a:r>
          </a:p>
        </p:txBody>
      </p:sp>
      <p:pic>
        <p:nvPicPr>
          <p:cNvPr id="5" name="Picture 4" descr="distillation.png"/>
          <p:cNvPicPr>
            <a:picLocks noChangeAspect="1"/>
          </p:cNvPicPr>
          <p:nvPr/>
        </p:nvPicPr>
        <p:blipFill>
          <a:blip r:embed="rId3"/>
          <a:stretch>
            <a:fillRect/>
          </a:stretch>
        </p:blipFill>
        <p:spPr>
          <a:xfrm>
            <a:off x="787619" y="1371600"/>
            <a:ext cx="5465642" cy="3566160"/>
          </a:xfrm>
          <a:prstGeom prst="rect">
            <a:avLst/>
          </a:prstGeom>
        </p:spPr>
      </p:pic>
      <p:sp>
        <p:nvSpPr>
          <p:cNvPr id="6" name="TextBox 5"/>
          <p:cNvSpPr txBox="1"/>
          <p:nvPr/>
        </p:nvSpPr>
        <p:spPr>
          <a:xfrm>
            <a:off x="6766560" y="1463040"/>
            <a:ext cx="5120640" cy="5120640"/>
          </a:xfrm>
          <a:prstGeom prst="rect">
            <a:avLst/>
          </a:prstGeom>
          <a:noFill/>
        </p:spPr>
        <p:txBody>
          <a:bodyPr wrap="square">
            <a:spAutoFit/>
          </a:bodyPr>
          <a:lstStyle/>
          <a:p>
            <a:pPr>
              <a:spcAft>
                <a:spcPts val="900"/>
              </a:spcAft>
            </a:pPr>
            <a:r>
              <a:rPr sz="1600" b="0">
                <a:solidFill>
                  <a:srgbClr val="E2E8F0"/>
                </a:solidFill>
              </a:rPr>
              <a:t>•  </a:t>
            </a:r>
            <a:r>
              <a:rPr sz="1600" b="1">
                <a:solidFill>
                  <a:srgbClr val="67E8F9"/>
                </a:solidFill>
              </a:rPr>
              <a:t>Teacher self-play</a:t>
            </a:r>
            <a:r>
              <a:rPr sz="1600" b="0">
                <a:solidFill>
                  <a:srgbClr val="E2E8F0"/>
                </a:solidFill>
              </a:rPr>
              <a:t>: on-policy states</a:t>
            </a:r>
          </a:p>
          <a:p>
            <a:pPr>
              <a:spcAft>
                <a:spcPts val="900"/>
              </a:spcAft>
            </a:pPr>
            <a:r>
              <a:rPr sz="1600" b="0">
                <a:solidFill>
                  <a:srgbClr val="E2E8F0"/>
                </a:solidFill>
              </a:rPr>
              <a:t>•  </a:t>
            </a:r>
            <a:r>
              <a:rPr sz="1600" b="1">
                <a:solidFill>
                  <a:srgbClr val="67E8F9"/>
                </a:solidFill>
              </a:rPr>
              <a:t>DAgger</a:t>
            </a:r>
            <a:r>
              <a:rPr sz="1600" b="0">
                <a:solidFill>
                  <a:srgbClr val="E2E8F0"/>
                </a:solidFill>
              </a:rPr>
              <a:t>: student drives, teacher labels its mistake states</a:t>
            </a:r>
          </a:p>
          <a:p>
            <a:pPr>
              <a:spcAft>
                <a:spcPts val="900"/>
              </a:spcAft>
            </a:pPr>
            <a:r>
              <a:rPr sz="1600" b="0">
                <a:solidFill>
                  <a:srgbClr val="E2E8F0"/>
                </a:solidFill>
              </a:rPr>
              <a:t>•  </a:t>
            </a:r>
            <a:r>
              <a:rPr sz="1600" b="1">
                <a:solidFill>
                  <a:srgbClr val="67E8F9"/>
                </a:solidFill>
              </a:rPr>
              <a:t>Soft labels (Hinton)</a:t>
            </a:r>
            <a:r>
              <a:rPr sz="1600" b="0">
                <a:solidFill>
                  <a:srgbClr val="E2E8F0"/>
                </a:solidFill>
              </a:rPr>
              <a:t>: KL to the teacher's full column/rotation preference</a:t>
            </a:r>
          </a:p>
          <a:p>
            <a:pPr>
              <a:spcAft>
                <a:spcPts val="900"/>
              </a:spcAft>
            </a:pPr>
            <a:r>
              <a:rPr sz="1600" b="0">
                <a:solidFill>
                  <a:srgbClr val="E2E8F0"/>
                </a:solidFill>
              </a:rPr>
              <a:t>•  Each helped a little (2 → 5); tops out at ~30–45 pieces</a:t>
            </a:r>
          </a:p>
          <a:p>
            <a:pPr>
              <a:spcAft>
                <a:spcPts val="900"/>
              </a:spcAft>
            </a:pPr>
            <a:r>
              <a:rPr sz="1600" b="0">
                <a:solidFill>
                  <a:srgbClr val="E2E8F0"/>
                </a:solidFill>
              </a:rPr>
              <a:t>•  </a:t>
            </a:r>
            <a:r>
              <a:rPr sz="1600" b="1">
                <a:solidFill>
                  <a:srgbClr val="67E8F9"/>
                </a:solidFill>
              </a:rPr>
              <a:t>Why</a:t>
            </a:r>
            <a:r>
              <a:rPr sz="1600" b="0">
                <a:solidFill>
                  <a:srgbClr val="E2E8F0"/>
                </a:solidFill>
              </a:rPr>
              <a:t>: column accuracy is only 17–26%. The teacher *compares* ~30 candidates; a single softmax can't compress that</a:t>
            </a:r>
          </a:p>
        </p:txBody>
      </p:sp>
      <p:sp>
        <p:nvSpPr>
          <p:cNvPr id="7" name="Rounded Rectangle 6"/>
          <p:cNvSpPr/>
          <p:nvPr/>
        </p:nvSpPr>
        <p:spPr>
          <a:xfrm>
            <a:off x="502920" y="5212080"/>
            <a:ext cx="6035040" cy="1280160"/>
          </a:xfrm>
          <a:prstGeom prst="roundRect">
            <a:avLst>
              <a:gd name="adj" fmla="val 12000"/>
            </a:avLst>
          </a:prstGeom>
          <a:solidFill>
            <a:srgbClr val="131C2E"/>
          </a:solidFill>
          <a:ln w="2540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a:solidFill>
                  <a:srgbClr val="E2E8F0"/>
                </a:solidFill>
              </a:rPr>
              <a:t>Generators cluster low (</a:t>
            </a:r>
            <a:r>
              <a:rPr sz="1700" b="1">
                <a:solidFill>
                  <a:srgbClr val="67E8F9"/>
                </a:solidFill>
              </a:rPr>
              <a:t>0 · 6 · 5</a:t>
            </a:r>
            <a:r>
              <a:rPr sz="1700" b="0">
                <a:solidFill>
                  <a:srgbClr val="E2E8F0"/>
                </a:solidFill>
              </a:rPr>
              <a:t>) even when taught by the ranker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Ranker + agents: the human-style interface</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replay_using_agents.py: choose a pose, then navigate there with /move</a:t>
            </a:r>
          </a:p>
        </p:txBody>
      </p:sp>
      <p:sp>
        <p:nvSpPr>
          <p:cNvPr id="5" name="Rounded Rectangle 4"/>
          <p:cNvSpPr/>
          <p:nvPr/>
        </p:nvSpPr>
        <p:spPr>
          <a:xfrm>
            <a:off x="502920" y="1737360"/>
            <a:ext cx="2377440" cy="1371600"/>
          </a:xfrm>
          <a:prstGeom prst="roundRect">
            <a:avLst>
              <a:gd name="adj" fmla="val 12000"/>
            </a:avLst>
          </a:prstGeom>
          <a:solidFill>
            <a:srgbClr val="131C2E"/>
          </a:solidFill>
          <a:ln w="25400">
            <a:solidFill>
              <a:srgbClr val="67E8F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Game-state</a:t>
            </a:r>
          </a:p>
          <a:p>
            <a:pPr algn="ctr"/>
            <a:r>
              <a:rPr sz="1500" b="0">
                <a:solidFill>
                  <a:srgbClr val="E2E8F0"/>
                </a:solidFill>
              </a:rPr>
              <a:t>agent</a:t>
            </a:r>
          </a:p>
          <a:p>
            <a:pPr algn="ctr"/>
            <a:r>
              <a:rPr sz="1500" b="0">
                <a:solidFill>
                  <a:srgbClr val="E2E8F0"/>
                </a:solidFill>
              </a:rPr>
              <a:t>GET /games/{id}</a:t>
            </a:r>
          </a:p>
        </p:txBody>
      </p:sp>
      <p:sp>
        <p:nvSpPr>
          <p:cNvPr id="6" name="Right Arrow 5"/>
          <p:cNvSpPr/>
          <p:nvPr/>
        </p:nvSpPr>
        <p:spPr>
          <a:xfrm>
            <a:off x="2926080" y="2286000"/>
            <a:ext cx="45720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29000" y="1737360"/>
            <a:ext cx="2377440" cy="1371600"/>
          </a:xfrm>
          <a:prstGeom prst="roundRect">
            <a:avLst>
              <a:gd name="adj" fmla="val 12000"/>
            </a:avLst>
          </a:prstGeom>
          <a:solidFill>
            <a:srgbClr val="131C2E"/>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Final-placement</a:t>
            </a:r>
          </a:p>
          <a:p>
            <a:pPr algn="ctr"/>
            <a:r>
              <a:rPr sz="1500" b="0">
                <a:solidFill>
                  <a:srgbClr val="E2E8F0"/>
                </a:solidFill>
              </a:rPr>
              <a:t>agent</a:t>
            </a:r>
          </a:p>
          <a:p>
            <a:pPr algn="ctr"/>
            <a:r>
              <a:rPr sz="1500" b="0">
                <a:solidFill>
                  <a:srgbClr val="E2E8F0"/>
                </a:solidFill>
              </a:rPr>
              <a:t>ranker argmax</a:t>
            </a:r>
          </a:p>
        </p:txBody>
      </p:sp>
      <p:sp>
        <p:nvSpPr>
          <p:cNvPr id="8" name="Right Arrow 7"/>
          <p:cNvSpPr/>
          <p:nvPr/>
        </p:nvSpPr>
        <p:spPr>
          <a:xfrm>
            <a:off x="5852160" y="2286000"/>
            <a:ext cx="45720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1737360"/>
            <a:ext cx="2377440" cy="1371600"/>
          </a:xfrm>
          <a:prstGeom prst="roundRect">
            <a:avLst>
              <a:gd name="adj" fmla="val 12000"/>
            </a:avLst>
          </a:prstGeom>
          <a:solidFill>
            <a:srgbClr val="131C2E"/>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Movement</a:t>
            </a:r>
          </a:p>
          <a:p>
            <a:pPr algn="ctr"/>
            <a:r>
              <a:rPr sz="1500" b="0">
                <a:solidFill>
                  <a:srgbClr val="E2E8F0"/>
                </a:solidFill>
              </a:rPr>
              <a:t>agent</a:t>
            </a:r>
          </a:p>
          <a:p>
            <a:pPr algn="ctr"/>
            <a:r>
              <a:rPr sz="1500" b="0">
                <a:solidFill>
                  <a:srgbClr val="E2E8F0"/>
                </a:solidFill>
              </a:rPr>
              <a:t>BFS path → /move</a:t>
            </a:r>
          </a:p>
        </p:txBody>
      </p:sp>
      <p:sp>
        <p:nvSpPr>
          <p:cNvPr id="10" name="Right Arrow 9"/>
          <p:cNvSpPr/>
          <p:nvPr/>
        </p:nvSpPr>
        <p:spPr>
          <a:xfrm>
            <a:off x="8778240" y="2286000"/>
            <a:ext cx="45720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81160" y="1737360"/>
            <a:ext cx="2377440" cy="1371600"/>
          </a:xfrm>
          <a:prstGeom prst="roundRect">
            <a:avLst>
              <a:gd name="adj" fmla="val 12000"/>
            </a:avLst>
          </a:prstGeom>
          <a:solidFill>
            <a:srgbClr val="131C2E"/>
          </a:solidFill>
          <a:ln w="2540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0">
                <a:solidFill>
                  <a:srgbClr val="E2E8F0"/>
                </a:solidFill>
              </a:rPr>
              <a:t>Validation</a:t>
            </a:r>
          </a:p>
          <a:p>
            <a:pPr algn="ctr"/>
            <a:r>
              <a:rPr sz="1500" b="0">
                <a:solidFill>
                  <a:srgbClr val="E2E8F0"/>
                </a:solidFill>
              </a:rPr>
              <a:t>agent</a:t>
            </a:r>
          </a:p>
          <a:p>
            <a:pPr algn="ctr"/>
            <a:r>
              <a:rPr sz="1500" b="0">
                <a:solidFill>
                  <a:srgbClr val="E2E8F0"/>
                </a:solidFill>
              </a:rPr>
              <a:t>locked == target?</a:t>
            </a:r>
          </a:p>
        </p:txBody>
      </p:sp>
      <p:sp>
        <p:nvSpPr>
          <p:cNvPr id="12" name="TextBox 11"/>
          <p:cNvSpPr txBox="1"/>
          <p:nvPr/>
        </p:nvSpPr>
        <p:spPr>
          <a:xfrm>
            <a:off x="502920" y="3474720"/>
            <a:ext cx="11155680" cy="3108960"/>
          </a:xfrm>
          <a:prstGeom prst="rect">
            <a:avLst/>
          </a:prstGeom>
          <a:noFill/>
        </p:spPr>
        <p:txBody>
          <a:bodyPr wrap="square">
            <a:spAutoFit/>
          </a:bodyPr>
          <a:lstStyle/>
          <a:p>
            <a:pPr>
              <a:spcAft>
                <a:spcPts val="1000"/>
              </a:spcAft>
            </a:pPr>
            <a:r>
              <a:rPr sz="1700" b="0">
                <a:solidFill>
                  <a:srgbClr val="E2E8F0"/>
                </a:solidFill>
              </a:rPr>
              <a:t>•  Same ranker and same legal set, but submitted as </a:t>
            </a:r>
            <a:r>
              <a:rPr sz="1600" b="0">
                <a:solidFill>
                  <a:srgbClr val="E2E8F0"/>
                </a:solidFill>
                <a:latin typeface="Consolas"/>
              </a:rPr>
              <a:t>left / right / rotate / down / drop</a:t>
            </a:r>
            <a:r>
              <a:rPr sz="1700" b="0">
                <a:solidFill>
                  <a:srgbClr val="E2E8F0"/>
                </a:solidFill>
              </a:rPr>
              <a:t> instead of teleporting via </a:t>
            </a:r>
            <a:r>
              <a:rPr sz="1600" b="0">
                <a:solidFill>
                  <a:srgbClr val="E2E8F0"/>
                </a:solidFill>
                <a:latin typeface="Consolas"/>
              </a:rPr>
              <a:t>/place</a:t>
            </a:r>
          </a:p>
          <a:p>
            <a:pPr>
              <a:spcAft>
                <a:spcPts val="1000"/>
              </a:spcAft>
            </a:pPr>
            <a:r>
              <a:rPr sz="1700" b="0">
                <a:solidFill>
                  <a:srgbClr val="E2E8F0"/>
                </a:solidFill>
              </a:rPr>
              <a:t>•  Path BFS mirrors </a:t>
            </a:r>
            <a:r>
              <a:rPr sz="1600" b="0">
                <a:solidFill>
                  <a:srgbClr val="E2E8F0"/>
                </a:solidFill>
                <a:latin typeface="Consolas"/>
              </a:rPr>
              <a:t>placement.py</a:t>
            </a:r>
            <a:r>
              <a:rPr sz="1700" b="0">
                <a:solidFill>
                  <a:srgbClr val="E2E8F0"/>
                </a:solidFill>
              </a:rPr>
              <a:t>; refuses soft-drops that would </a:t>
            </a:r>
            <a:r>
              <a:rPr sz="1700" b="1">
                <a:solidFill>
                  <a:srgbClr val="67E8F9"/>
                </a:solidFill>
              </a:rPr>
              <a:t>lock early</a:t>
            </a:r>
            <a:r>
              <a:rPr sz="1700" b="0">
                <a:solidFill>
                  <a:srgbClr val="E2E8F0"/>
                </a:solidFill>
              </a:rPr>
              <a:t> on the wrong resting pose</a:t>
            </a:r>
          </a:p>
          <a:p>
            <a:pPr>
              <a:spcAft>
                <a:spcPts val="1000"/>
              </a:spcAft>
            </a:pPr>
            <a:r>
              <a:rPr sz="1700" b="0">
                <a:solidFill>
                  <a:srgbClr val="E2E8F0"/>
                </a:solidFill>
              </a:rPr>
              <a:t>•  On a miss, a </a:t>
            </a:r>
            <a:r>
              <a:rPr sz="1700" b="1">
                <a:solidFill>
                  <a:srgbClr val="67E8F9"/>
                </a:solidFill>
              </a:rPr>
              <a:t>one-shot LLM assist</a:t>
            </a:r>
            <a:r>
              <a:rPr sz="1700" b="0">
                <a:solidFill>
                  <a:srgbClr val="E2E8F0"/>
                </a:solidFill>
              </a:rPr>
              <a:t> (gpt-4o-mini) picks the *next* piece from the enumerated legal list, then the scorer resumes</a:t>
            </a:r>
          </a:p>
          <a:p>
            <a:pPr>
              <a:spcAft>
                <a:spcPts val="1000"/>
              </a:spcAft>
            </a:pPr>
            <a:r>
              <a:rPr sz="1700" b="0">
                <a:solidFill>
                  <a:srgbClr val="E2E8F0"/>
                </a:solidFill>
              </a:rPr>
              <a:t>•  Use </a:t>
            </a:r>
            <a:r>
              <a:rPr sz="1600" b="0">
                <a:solidFill>
                  <a:srgbClr val="E2E8F0"/>
                </a:solidFill>
                <a:latin typeface="Consolas"/>
              </a:rPr>
              <a:t>replay_transformers.py</a:t>
            </a:r>
            <a:r>
              <a:rPr sz="1700" b="0">
                <a:solidFill>
                  <a:srgbClr val="E2E8F0"/>
                </a:solidFill>
              </a:rPr>
              <a:t> to measure ranking quality; use the agent replay to test </a:t>
            </a:r>
            <a:r>
              <a:rPr sz="1700" b="1">
                <a:solidFill>
                  <a:srgbClr val="67E8F9"/>
                </a:solidFill>
              </a:rPr>
              <a:t>reachable execution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Head-to-head</a:t>
            </a:r>
          </a:p>
        </p:txBody>
      </p:sp>
      <p:sp>
        <p:nvSpPr>
          <p:cNvPr id="4" name="TextBox 3"/>
          <p:cNvSpPr txBox="1"/>
          <p:nvPr/>
        </p:nvSpPr>
        <p:spPr>
          <a:xfrm>
            <a:off x="502920" y="960120"/>
            <a:ext cx="11247120" cy="457200"/>
          </a:xfrm>
          <a:prstGeom prst="rect">
            <a:avLst/>
          </a:prstGeom>
          <a:noFill/>
        </p:spPr>
        <p:txBody>
          <a:bodyPr wrap="square" anchor="t">
            <a:spAutoFit/>
          </a:bodyPr>
          <a:lstStyle/>
          <a:p>
            <a:pPr algn="l"/>
            <a:r>
              <a:rPr sz="1600" b="0">
                <a:solidFill>
                  <a:srgbClr val="94A3B8"/>
                </a:solidFill>
              </a:rPr>
              <a:t>Mixed all-piece games, same engine, same clean data</a:t>
            </a:r>
          </a:p>
        </p:txBody>
      </p:sp>
      <p:pic>
        <p:nvPicPr>
          <p:cNvPr id="5" name="Picture 4" descr="head_to_head.png"/>
          <p:cNvPicPr>
            <a:picLocks noChangeAspect="1"/>
          </p:cNvPicPr>
          <p:nvPr/>
        </p:nvPicPr>
        <p:blipFill>
          <a:blip r:embed="rId3"/>
          <a:stretch>
            <a:fillRect/>
          </a:stretch>
        </p:blipFill>
        <p:spPr>
          <a:xfrm>
            <a:off x="502920" y="1681200"/>
            <a:ext cx="6949440" cy="3221280"/>
          </a:xfrm>
          <a:prstGeom prst="rect">
            <a:avLst/>
          </a:prstGeom>
        </p:spPr>
      </p:pic>
      <p:graphicFrame>
        <p:nvGraphicFramePr>
          <p:cNvPr id="6" name="Table 5"/>
          <p:cNvGraphicFramePr>
            <a:graphicFrameLocks noGrp="1"/>
          </p:cNvGraphicFramePr>
          <p:nvPr/>
        </p:nvGraphicFramePr>
        <p:xfrm>
          <a:off x="7680960" y="1554480"/>
          <a:ext cx="4114800" cy="2743200"/>
        </p:xfrm>
        <a:graphic>
          <a:graphicData uri="http://schemas.openxmlformats.org/drawingml/2006/table">
            <a:tbl>
              <a:tblPr firstRow="1" bandRow="1">
                <a:tableStyleId>{5C22544A-7EE6-4342-B048-85BDC9FD1C3A}</a:tableStyleId>
              </a:tblPr>
              <a:tblGrid>
                <a:gridCol w="1463040"/>
                <a:gridCol w="2651760"/>
              </a:tblGrid>
              <a:tr h="548640">
                <a:tc>
                  <a:txBody>
                    <a:bodyPr wrap="square"/>
                    <a:lstStyle/>
                    <a:p>
                      <a:r>
                        <a:rPr sz="1400" b="1">
                          <a:solidFill>
                            <a:srgbClr val="67E8F9"/>
                          </a:solidFill>
                        </a:rPr>
                        <a:t>Solver</a:t>
                      </a:r>
                    </a:p>
                  </a:txBody>
                  <a:tcPr marL="73152" marR="73152" anchor="ctr">
                    <a:solidFill>
                      <a:srgbClr val="1E293B"/>
                    </a:solidFill>
                  </a:tcPr>
                </a:tc>
                <a:tc>
                  <a:txBody>
                    <a:bodyPr wrap="square"/>
                    <a:lstStyle/>
                    <a:p>
                      <a:r>
                        <a:rPr sz="1400" b="1">
                          <a:solidFill>
                            <a:srgbClr val="67E8F9"/>
                          </a:solidFill>
                        </a:rPr>
                        <a:t>Fails how</a:t>
                      </a:r>
                    </a:p>
                  </a:txBody>
                  <a:tcPr marL="73152" marR="73152" anchor="ctr">
                    <a:solidFill>
                      <a:srgbClr val="1E293B"/>
                    </a:solidFill>
                  </a:tcPr>
                </a:tc>
              </a:tr>
              <a:tr h="548640">
                <a:tc>
                  <a:txBody>
                    <a:bodyPr wrap="square"/>
                    <a:lstStyle/>
                    <a:p>
                      <a:r>
                        <a:rPr sz="1400" b="0">
                          <a:solidFill>
                            <a:srgbClr val="E2E8F0"/>
                          </a:solidFill>
                        </a:rPr>
                        <a:t>VAE v2</a:t>
                      </a:r>
                    </a:p>
                  </a:txBody>
                  <a:tcPr marL="73152" marR="73152" anchor="ctr">
                    <a:solidFill>
                      <a:srgbClr val="131C2E"/>
                    </a:solidFill>
                  </a:tcPr>
                </a:tc>
                <a:tc>
                  <a:txBody>
                    <a:bodyPr wrap="square"/>
                    <a:lstStyle/>
                    <a:p>
                      <a:r>
                        <a:rPr sz="1400" b="0">
                          <a:solidFill>
                            <a:srgbClr val="E2E8F0"/>
                          </a:solidFill>
                        </a:rPr>
                        <a:t>never forms a clearable row</a:t>
                      </a:r>
                    </a:p>
                  </a:txBody>
                  <a:tcPr marL="73152" marR="73152" anchor="ctr">
                    <a:solidFill>
                      <a:srgbClr val="131C2E"/>
                    </a:solidFill>
                  </a:tcPr>
                </a:tc>
              </a:tr>
              <a:tr h="548640">
                <a:tc>
                  <a:txBody>
                    <a:bodyPr wrap="square"/>
                    <a:lstStyle/>
                    <a:p>
                      <a:r>
                        <a:rPr sz="1400" b="0">
                          <a:solidFill>
                            <a:srgbClr val="E2E8F0"/>
                          </a:solidFill>
                        </a:rPr>
                        <a:t>GAN</a:t>
                      </a:r>
                    </a:p>
                  </a:txBody>
                  <a:tcPr marL="73152" marR="73152" anchor="ctr">
                    <a:solidFill>
                      <a:srgbClr val="0B1220"/>
                    </a:solidFill>
                  </a:tcPr>
                </a:tc>
                <a:tc>
                  <a:txBody>
                    <a:bodyPr wrap="square"/>
                    <a:lstStyle/>
                    <a:p>
                      <a:r>
                        <a:rPr sz="1400" b="0">
                          <a:solidFill>
                            <a:srgbClr val="E2E8F0"/>
                          </a:solidFill>
                        </a:rPr>
                        <a:t>tops out early, high variance</a:t>
                      </a:r>
                    </a:p>
                  </a:txBody>
                  <a:tcPr marL="73152" marR="73152" anchor="ctr">
                    <a:solidFill>
                      <a:srgbClr val="0B1220"/>
                    </a:solidFill>
                  </a:tcPr>
                </a:tc>
              </a:tr>
              <a:tr h="548640">
                <a:tc>
                  <a:txBody>
                    <a:bodyPr wrap="square"/>
                    <a:lstStyle/>
                    <a:p>
                      <a:r>
                        <a:rPr sz="1400" b="0">
                          <a:solidFill>
                            <a:srgbClr val="E2E8F0"/>
                          </a:solidFill>
                        </a:rPr>
                        <a:t>Direct policy</a:t>
                      </a:r>
                    </a:p>
                  </a:txBody>
                  <a:tcPr marL="73152" marR="73152" anchor="ctr">
                    <a:solidFill>
                      <a:srgbClr val="131C2E"/>
                    </a:solidFill>
                  </a:tcPr>
                </a:tc>
                <a:tc>
                  <a:txBody>
                    <a:bodyPr wrap="square"/>
                    <a:lstStyle/>
                    <a:p>
                      <a:r>
                        <a:rPr sz="1400" b="0">
                          <a:solidFill>
                            <a:srgbClr val="E2E8F0"/>
                          </a:solidFill>
                        </a:rPr>
                        <a:t>tops out at ~30–45 pieces</a:t>
                      </a:r>
                    </a:p>
                  </a:txBody>
                  <a:tcPr marL="73152" marR="73152" anchor="ctr">
                    <a:solidFill>
                      <a:srgbClr val="131C2E"/>
                    </a:solidFill>
                  </a:tcPr>
                </a:tc>
              </a:tr>
              <a:tr h="548640">
                <a:tc>
                  <a:txBody>
                    <a:bodyPr wrap="square"/>
                    <a:lstStyle/>
                    <a:p>
                      <a:r>
                        <a:rPr sz="1400" b="0">
                          <a:solidFill>
                            <a:srgbClr val="E2E8F0"/>
                          </a:solidFill>
                        </a:rPr>
                        <a:t>Ranker</a:t>
                      </a:r>
                    </a:p>
                  </a:txBody>
                  <a:tcPr marL="73152" marR="73152" anchor="ctr">
                    <a:solidFill>
                      <a:srgbClr val="143D2E"/>
                    </a:solidFill>
                  </a:tcPr>
                </a:tc>
                <a:tc>
                  <a:txBody>
                    <a:bodyPr wrap="square"/>
                    <a:lstStyle/>
                    <a:p>
                      <a:r>
                        <a:rPr sz="1400" b="0">
                          <a:solidFill>
                            <a:srgbClr val="E2E8F0"/>
                          </a:solidFill>
                        </a:rPr>
                        <a:t>(move cap, not topping out)</a:t>
                      </a:r>
                    </a:p>
                  </a:txBody>
                  <a:tcPr marL="73152" marR="73152" anchor="ctr">
                    <a:solidFill>
                      <a:srgbClr val="143D2E"/>
                    </a:solidFill>
                  </a:tcPr>
                </a:tc>
              </a:tr>
            </a:tbl>
          </a:graphicData>
        </a:graphic>
      </p:graphicFrame>
      <p:sp>
        <p:nvSpPr>
          <p:cNvPr id="7" name="TextBox 6"/>
          <p:cNvSpPr txBox="1"/>
          <p:nvPr/>
        </p:nvSpPr>
        <p:spPr>
          <a:xfrm>
            <a:off x="502920" y="5486400"/>
            <a:ext cx="11247120" cy="1097280"/>
          </a:xfrm>
          <a:prstGeom prst="rect">
            <a:avLst/>
          </a:prstGeom>
          <a:noFill/>
        </p:spPr>
        <p:txBody>
          <a:bodyPr wrap="square">
            <a:spAutoFit/>
          </a:bodyPr>
          <a:lstStyle/>
          <a:p>
            <a:pPr>
              <a:spcAft>
                <a:spcPts val="600"/>
              </a:spcAft>
            </a:pPr>
            <a:r>
              <a:rPr sz="1400" b="0">
                <a:solidFill>
                  <a:srgbClr val="E2E8F0"/>
                </a:solidFill>
              </a:rPr>
              <a:t>•  Shipped weights: </a:t>
            </a:r>
            <a:r>
              <a:rPr sz="1300" b="0">
                <a:solidFill>
                  <a:srgbClr val="E2E8F0"/>
                </a:solidFill>
                <a:latin typeface="Consolas"/>
              </a:rPr>
              <a:t>models/vae_clean</a:t>
            </a:r>
            <a:r>
              <a:rPr sz="1400" b="0">
                <a:solidFill>
                  <a:srgbClr val="E2E8F0"/>
                </a:solidFill>
              </a:rPr>
              <a:t>, </a:t>
            </a:r>
            <a:r>
              <a:rPr sz="1300" b="0">
                <a:solidFill>
                  <a:srgbClr val="E2E8F0"/>
                </a:solidFill>
                <a:latin typeface="Consolas"/>
              </a:rPr>
              <a:t>models/gan_clean_v2</a:t>
            </a:r>
            <a:r>
              <a:rPr sz="1400" b="0">
                <a:solidFill>
                  <a:srgbClr val="E2E8F0"/>
                </a:solidFill>
              </a:rPr>
              <a:t>, </a:t>
            </a:r>
            <a:r>
              <a:rPr sz="1300" b="0">
                <a:solidFill>
                  <a:srgbClr val="E2E8F0"/>
                </a:solidFill>
                <a:latin typeface="Consolas"/>
              </a:rPr>
              <a:t>models/transformer_policy_soft</a:t>
            </a:r>
            <a:r>
              <a:rPr sz="1400" b="0">
                <a:solidFill>
                  <a:srgbClr val="E2E8F0"/>
                </a:solidFill>
              </a:rPr>
              <a:t>, </a:t>
            </a:r>
            <a:r>
              <a:rPr sz="1300" b="0">
                <a:solidFill>
                  <a:srgbClr val="E2E8F0"/>
                </a:solidFill>
                <a:latin typeface="Consolas"/>
              </a:rPr>
              <a:t>models/transformer_scorer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Conclusions</a:t>
            </a:r>
          </a:p>
        </p:txBody>
      </p:sp>
      <p:sp>
        <p:nvSpPr>
          <p:cNvPr id="4" name="Rectangle 3"/>
          <p:cNvSpPr/>
          <p:nvPr/>
        </p:nvSpPr>
        <p:spPr>
          <a:xfrm>
            <a:off x="502920" y="1371600"/>
            <a:ext cx="109728" cy="105156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25880"/>
            <a:ext cx="10789920" cy="457200"/>
          </a:xfrm>
          <a:prstGeom prst="rect">
            <a:avLst/>
          </a:prstGeom>
          <a:noFill/>
        </p:spPr>
        <p:txBody>
          <a:bodyPr wrap="square" anchor="t">
            <a:spAutoFit/>
          </a:bodyPr>
          <a:lstStyle/>
          <a:p>
            <a:pPr algn="l"/>
            <a:r>
              <a:rPr sz="2200" b="1">
                <a:solidFill>
                  <a:srgbClr val="4ADE80"/>
                </a:solidFill>
              </a:rPr>
              <a:t>Framing beats model capacity</a:t>
            </a:r>
          </a:p>
        </p:txBody>
      </p:sp>
      <p:sp>
        <p:nvSpPr>
          <p:cNvPr id="6" name="TextBox 5"/>
          <p:cNvSpPr txBox="1"/>
          <p:nvPr/>
        </p:nvSpPr>
        <p:spPr>
          <a:xfrm>
            <a:off x="822960" y="1783080"/>
            <a:ext cx="10789920" cy="640080"/>
          </a:xfrm>
          <a:prstGeom prst="rect">
            <a:avLst/>
          </a:prstGeom>
          <a:noFill/>
        </p:spPr>
        <p:txBody>
          <a:bodyPr wrap="square" anchor="t">
            <a:spAutoFit/>
          </a:bodyPr>
          <a:lstStyle/>
          <a:p>
            <a:pPr algn="l"/>
            <a:r>
              <a:rPr sz="1700" b="0">
                <a:solidFill>
                  <a:srgbClr val="E2E8F0"/>
                </a:solidFill>
              </a:rPr>
              <a:t>Ranking legal candidates instead of generating a move sidesteps the covariate shift that sank the VAE and limited the GAN.</a:t>
            </a:r>
          </a:p>
        </p:txBody>
      </p:sp>
      <p:sp>
        <p:nvSpPr>
          <p:cNvPr id="7" name="Rectangle 6"/>
          <p:cNvSpPr/>
          <p:nvPr/>
        </p:nvSpPr>
        <p:spPr>
          <a:xfrm>
            <a:off x="502920" y="2670048"/>
            <a:ext cx="109728" cy="105156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24328"/>
            <a:ext cx="10789920" cy="457200"/>
          </a:xfrm>
          <a:prstGeom prst="rect">
            <a:avLst/>
          </a:prstGeom>
          <a:noFill/>
        </p:spPr>
        <p:txBody>
          <a:bodyPr wrap="square" anchor="t">
            <a:spAutoFit/>
          </a:bodyPr>
          <a:lstStyle/>
          <a:p>
            <a:pPr algn="l"/>
            <a:r>
              <a:rPr sz="2200" b="1">
                <a:solidFill>
                  <a:srgbClr val="FB923C"/>
                </a:solidFill>
              </a:rPr>
              <a:t>A value signal is necessary but not sufficient</a:t>
            </a:r>
          </a:p>
        </p:txBody>
      </p:sp>
      <p:sp>
        <p:nvSpPr>
          <p:cNvPr id="9" name="TextBox 8"/>
          <p:cNvSpPr txBox="1"/>
          <p:nvPr/>
        </p:nvSpPr>
        <p:spPr>
          <a:xfrm>
            <a:off x="822960" y="3081528"/>
            <a:ext cx="10789920" cy="640080"/>
          </a:xfrm>
          <a:prstGeom prst="rect">
            <a:avLst/>
          </a:prstGeom>
          <a:noFill/>
        </p:spPr>
        <p:txBody>
          <a:bodyPr wrap="square" anchor="t">
            <a:spAutoFit/>
          </a:bodyPr>
          <a:lstStyle/>
          <a:p>
            <a:pPr algn="l"/>
            <a:r>
              <a:rPr sz="1700" b="0">
                <a:solidFill>
                  <a:srgbClr val="E2E8F0"/>
                </a:solidFill>
              </a:rPr>
              <a:t>The GAN's line-clear head beat the VAE (6 vs 0), but as a generator it still drifts and varies.</a:t>
            </a:r>
          </a:p>
        </p:txBody>
      </p:sp>
      <p:sp>
        <p:nvSpPr>
          <p:cNvPr id="10" name="Rectangle 9"/>
          <p:cNvSpPr/>
          <p:nvPr/>
        </p:nvSpPr>
        <p:spPr>
          <a:xfrm>
            <a:off x="502920" y="3968496"/>
            <a:ext cx="109728" cy="1051560"/>
          </a:xfrm>
          <a:prstGeom prst="rect">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22776"/>
            <a:ext cx="10789920" cy="457200"/>
          </a:xfrm>
          <a:prstGeom prst="rect">
            <a:avLst/>
          </a:prstGeom>
          <a:noFill/>
        </p:spPr>
        <p:txBody>
          <a:bodyPr wrap="square" anchor="t">
            <a:spAutoFit/>
          </a:bodyPr>
          <a:lstStyle/>
          <a:p>
            <a:pPr algn="l"/>
            <a:r>
              <a:rPr sz="2200" b="1">
                <a:solidFill>
                  <a:srgbClr val="FACC15"/>
                </a:solidFill>
              </a:rPr>
              <a:t>Ranking &gt; generation, even by distillation</a:t>
            </a:r>
          </a:p>
        </p:txBody>
      </p:sp>
      <p:sp>
        <p:nvSpPr>
          <p:cNvPr id="12" name="TextBox 11"/>
          <p:cNvSpPr txBox="1"/>
          <p:nvPr/>
        </p:nvSpPr>
        <p:spPr>
          <a:xfrm>
            <a:off x="822960" y="4379976"/>
            <a:ext cx="10789920" cy="640080"/>
          </a:xfrm>
          <a:prstGeom prst="rect">
            <a:avLst/>
          </a:prstGeom>
          <a:noFill/>
        </p:spPr>
        <p:txBody>
          <a:bodyPr wrap="square" anchor="t">
            <a:spAutoFit/>
          </a:bodyPr>
          <a:lstStyle/>
          <a:p>
            <a:pPr algn="l"/>
            <a:r>
              <a:rPr sz="1700" b="0">
                <a:solidFill>
                  <a:srgbClr val="E2E8F0"/>
                </a:solidFill>
              </a:rPr>
              <a:t>Distilling the 150-line ranker into a direct policy plateaued at 5 lines despite soft labels and DAgger.</a:t>
            </a:r>
          </a:p>
        </p:txBody>
      </p:sp>
      <p:sp>
        <p:nvSpPr>
          <p:cNvPr id="13" name="Rectangle 12"/>
          <p:cNvSpPr/>
          <p:nvPr/>
        </p:nvSpPr>
        <p:spPr>
          <a:xfrm>
            <a:off x="502920" y="5266944"/>
            <a:ext cx="109728" cy="105156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221224"/>
            <a:ext cx="10789920" cy="457200"/>
          </a:xfrm>
          <a:prstGeom prst="rect">
            <a:avLst/>
          </a:prstGeom>
          <a:noFill/>
        </p:spPr>
        <p:txBody>
          <a:bodyPr wrap="square" anchor="t">
            <a:spAutoFit/>
          </a:bodyPr>
          <a:lstStyle/>
          <a:p>
            <a:pPr algn="l"/>
            <a:r>
              <a:rPr sz="2200" b="1">
                <a:solidFill>
                  <a:srgbClr val="67E8F9"/>
                </a:solidFill>
              </a:rPr>
              <a:t>A correct engine and clean data come first</a:t>
            </a:r>
          </a:p>
        </p:txBody>
      </p:sp>
      <p:sp>
        <p:nvSpPr>
          <p:cNvPr id="15" name="TextBox 14"/>
          <p:cNvSpPr txBox="1"/>
          <p:nvPr/>
        </p:nvSpPr>
        <p:spPr>
          <a:xfrm>
            <a:off x="822960" y="5678424"/>
            <a:ext cx="10789920" cy="640080"/>
          </a:xfrm>
          <a:prstGeom prst="rect">
            <a:avLst/>
          </a:prstGeom>
          <a:noFill/>
        </p:spPr>
        <p:txBody>
          <a:bodyPr wrap="square" anchor="t">
            <a:spAutoFit/>
          </a:bodyPr>
          <a:lstStyle/>
          <a:p>
            <a:pPr algn="l"/>
            <a:r>
              <a:rPr sz="1700" b="0">
                <a:solidFill>
                  <a:srgbClr val="E2E8F0"/>
                </a:solidFill>
              </a:rPr>
              <a:t>BFS reachability and hole-free demonstrations were prerequisites; otherwise failures are uninterpretable.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nchor="t">
            <a:spAutoFit/>
          </a:bodyPr>
          <a:lstStyle/>
          <a:p>
            <a:pPr algn="l"/>
            <a:r>
              <a:rPr sz="3200" b="1">
                <a:solidFill>
                  <a:srgbClr val="E2E8F0"/>
                </a:solidFill>
              </a:rPr>
              <a:t>Next steps &amp; reproduce</a:t>
            </a:r>
          </a:p>
        </p:txBody>
      </p:sp>
      <p:sp>
        <p:nvSpPr>
          <p:cNvPr id="4" name="TextBox 3"/>
          <p:cNvSpPr txBox="1"/>
          <p:nvPr/>
        </p:nvSpPr>
        <p:spPr>
          <a:xfrm>
            <a:off x="502920" y="1463040"/>
            <a:ext cx="4206240" cy="5120640"/>
          </a:xfrm>
          <a:prstGeom prst="rect">
            <a:avLst/>
          </a:prstGeom>
          <a:noFill/>
        </p:spPr>
        <p:txBody>
          <a:bodyPr wrap="square">
            <a:spAutoFit/>
          </a:bodyPr>
          <a:lstStyle/>
          <a:p>
            <a:pPr>
              <a:spcAft>
                <a:spcPts val="1200"/>
              </a:spcAft>
            </a:pPr>
            <a:r>
              <a:rPr sz="1700" b="0">
                <a:solidFill>
                  <a:srgbClr val="E2E8F0"/>
                </a:solidFill>
              </a:rPr>
              <a:t>•  </a:t>
            </a:r>
            <a:r>
              <a:rPr sz="1700" b="1">
                <a:solidFill>
                  <a:srgbClr val="67E8F9"/>
                </a:solidFill>
              </a:rPr>
              <a:t>Scale the ranker</a:t>
            </a:r>
            <a:r>
              <a:rPr sz="1700" b="0">
                <a:solidFill>
                  <a:srgbClr val="E2E8F0"/>
                </a:solidFill>
              </a:rPr>
              <a:t>: all 191 games, more candidates/board, larger model, likely lifting T</a:t>
            </a:r>
          </a:p>
          <a:p>
            <a:pPr>
              <a:spcAft>
                <a:spcPts val="1200"/>
              </a:spcAft>
            </a:pPr>
            <a:r>
              <a:rPr sz="1700" b="0">
                <a:solidFill>
                  <a:srgbClr val="E2E8F0"/>
                </a:solidFill>
              </a:rPr>
              <a:t>•  </a:t>
            </a:r>
            <a:r>
              <a:rPr sz="1700" b="1">
                <a:solidFill>
                  <a:srgbClr val="67E8F9"/>
                </a:solidFill>
              </a:rPr>
              <a:t>One-piece lookahead</a:t>
            </a:r>
            <a:r>
              <a:rPr sz="1700" b="0">
                <a:solidFill>
                  <a:srgbClr val="E2E8F0"/>
                </a:solidFill>
              </a:rPr>
              <a:t> using the known next piece</a:t>
            </a:r>
          </a:p>
          <a:p>
            <a:pPr>
              <a:spcAft>
                <a:spcPts val="1200"/>
              </a:spcAft>
            </a:pPr>
            <a:r>
              <a:rPr sz="1700" b="0">
                <a:solidFill>
                  <a:srgbClr val="E2E8F0"/>
                </a:solidFill>
              </a:rPr>
              <a:t>•  Make the ranker the project's </a:t>
            </a:r>
            <a:r>
              <a:rPr sz="1700" b="1">
                <a:solidFill>
                  <a:srgbClr val="67E8F9"/>
                </a:solidFill>
              </a:rPr>
              <a:t>default player</a:t>
            </a:r>
          </a:p>
          <a:p>
            <a:pPr>
              <a:spcAft>
                <a:spcPts val="1200"/>
              </a:spcAft>
            </a:pPr>
            <a:r>
              <a:rPr sz="1700" b="0">
                <a:solidFill>
                  <a:srgbClr val="E2E8F0"/>
                </a:solidFill>
              </a:rPr>
              <a:t>•  Re-run the notebook-03 attention eval suite after each retrain</a:t>
            </a:r>
          </a:p>
        </p:txBody>
      </p:sp>
      <p:sp>
        <p:nvSpPr>
          <p:cNvPr id="5" name="Rounded Rectangle 4"/>
          <p:cNvSpPr/>
          <p:nvPr/>
        </p:nvSpPr>
        <p:spPr>
          <a:xfrm>
            <a:off x="4937760" y="1463040"/>
            <a:ext cx="6858000" cy="5120640"/>
          </a:xfrm>
          <a:prstGeom prst="roundRect">
            <a:avLst>
              <a:gd name="adj" fmla="val 4000"/>
            </a:avLst>
          </a:prstGeom>
          <a:solidFill>
            <a:srgbClr val="131C2E"/>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100">
                <a:solidFill>
                  <a:srgbClr val="E2E8F0"/>
                </a:solidFill>
                <a:latin typeface="Consolas"/>
              </a:rPr>
              <a:t># API server</a:t>
            </a:r>
          </a:p>
          <a:p>
            <a:pPr algn="l"/>
            <a:r>
              <a:rPr sz="1100">
                <a:solidFill>
                  <a:srgbClr val="E2E8F0"/>
                </a:solidFill>
                <a:latin typeface="Consolas"/>
              </a:rPr>
              <a:t>uv run uvicorn puzzlegrid.api:app --port 8123</a:t>
            </a:r>
          </a:p>
          <a:p>
            <a:pPr algn="l"/>
            <a:r>
              <a:rPr sz="1100">
                <a:solidFill>
                  <a:srgbClr val="E2E8F0"/>
                </a:solidFill>
                <a:latin typeface="Consolas"/>
              </a:rPr>
              <a:t> </a:t>
            </a:r>
          </a:p>
          <a:p>
            <a:pPr algn="l"/>
            <a:r>
              <a:rPr sz="1100">
                <a:solidFill>
                  <a:srgbClr val="E2E8F0"/>
                </a:solidFill>
                <a:latin typeface="Consolas"/>
              </a:rPr>
              <a:t># VAE v2  (0 lines)</a:t>
            </a:r>
          </a:p>
          <a:p>
            <a:pPr algn="l"/>
            <a:r>
              <a:rPr sz="1100">
                <a:solidFill>
                  <a:srgbClr val="E2E8F0"/>
                </a:solidFill>
                <a:latin typeface="Consolas"/>
              </a:rPr>
              <a:t>uv run python replay_vae_v2.py \</a:t>
            </a:r>
          </a:p>
          <a:p>
            <a:pPr algn="l"/>
            <a:r>
              <a:rPr sz="1100">
                <a:solidFill>
                  <a:srgbClr val="E2E8F0"/>
                </a:solidFill>
                <a:latin typeface="Consolas"/>
              </a:rPr>
              <a:t>  --model ./models/vae_clean/tetris_vae_v2_best.keras \</a:t>
            </a:r>
          </a:p>
          <a:p>
            <a:pPr algn="l"/>
            <a:r>
              <a:rPr sz="1100">
                <a:solidFill>
                  <a:srgbClr val="E2E8F0"/>
                </a:solidFill>
                <a:latin typeface="Consolas"/>
              </a:rPr>
              <a:t>  --api-url http://localhost:8123 --pieces I O T S Z J L</a:t>
            </a:r>
          </a:p>
          <a:p>
            <a:pPr algn="l"/>
            <a:r>
              <a:rPr sz="1100">
                <a:solidFill>
                  <a:srgbClr val="E2E8F0"/>
                </a:solidFill>
                <a:latin typeface="Consolas"/>
              </a:rPr>
              <a:t> </a:t>
            </a:r>
          </a:p>
          <a:p>
            <a:pPr algn="l"/>
            <a:r>
              <a:rPr sz="1100">
                <a:solidFill>
                  <a:srgbClr val="E2E8F0"/>
                </a:solidFill>
                <a:latin typeface="Consolas"/>
              </a:rPr>
              <a:t># GAN  (best ~6)</a:t>
            </a:r>
          </a:p>
          <a:p>
            <a:pPr algn="l"/>
            <a:r>
              <a:rPr sz="1100">
                <a:solidFill>
                  <a:srgbClr val="E2E8F0"/>
                </a:solidFill>
                <a:latin typeface="Consolas"/>
              </a:rPr>
              <a:t>uv run python replay_gan.py --model-dir ./models/gan_clean_v2 \</a:t>
            </a:r>
          </a:p>
          <a:p>
            <a:pPr algn="l"/>
            <a:r>
              <a:rPr sz="1100">
                <a:solidFill>
                  <a:srgbClr val="E2E8F0"/>
                </a:solidFill>
                <a:latin typeface="Consolas"/>
              </a:rPr>
              <a:t>  --inprocess --mode search --num-samples 10 \</a:t>
            </a:r>
          </a:p>
          <a:p>
            <a:pPr algn="l"/>
            <a:r>
              <a:rPr sz="1100">
                <a:solidFill>
                  <a:srgbClr val="E2E8F0"/>
                </a:solidFill>
                <a:latin typeface="Consolas"/>
              </a:rPr>
              <a:t>  --line-clear-bonus 3.0</a:t>
            </a:r>
          </a:p>
          <a:p>
            <a:pPr algn="l"/>
            <a:r>
              <a:rPr sz="1100">
                <a:solidFill>
                  <a:srgbClr val="E2E8F0"/>
                </a:solidFill>
                <a:latin typeface="Consolas"/>
              </a:rPr>
              <a:t> </a:t>
            </a:r>
          </a:p>
          <a:p>
            <a:pPr algn="l"/>
            <a:r>
              <a:rPr sz="1100">
                <a:solidFill>
                  <a:srgbClr val="E2E8F0"/>
                </a:solidFill>
                <a:latin typeface="Consolas"/>
              </a:rPr>
              <a:t># Transformer ranker  (150+)</a:t>
            </a:r>
          </a:p>
          <a:p>
            <a:pPr algn="l"/>
            <a:r>
              <a:rPr sz="1100">
                <a:solidFill>
                  <a:srgbClr val="E2E8F0"/>
                </a:solidFill>
                <a:latin typeface="Consolas"/>
              </a:rPr>
              <a:t>uv run python replay_transformers.py \</a:t>
            </a:r>
          </a:p>
          <a:p>
            <a:pPr algn="l"/>
            <a:r>
              <a:rPr sz="1100">
                <a:solidFill>
                  <a:srgbClr val="E2E8F0"/>
                </a:solidFill>
                <a:latin typeface="Consolas"/>
              </a:rPr>
              <a:t>  --inprocess --max-moves 400 --model \</a:t>
            </a:r>
          </a:p>
          <a:p>
            <a:pPr algn="l"/>
            <a:r>
              <a:rPr sz="1100">
                <a:solidFill>
                  <a:srgbClr val="E2E8F0"/>
                </a:solidFill>
                <a:latin typeface="Consolas"/>
              </a:rPr>
              <a:t>  ./models/transformer_scorer/transformer_scorer_best.keras</a:t>
            </a:r>
          </a:p>
          <a:p>
            <a:pPr algn="l"/>
            <a:r>
              <a:rPr sz="1100">
                <a:solidFill>
                  <a:srgbClr val="E2E8F0"/>
                </a:solidFill>
                <a:latin typeface="Consolas"/>
              </a:rPr>
              <a:t> </a:t>
            </a:r>
          </a:p>
          <a:p>
            <a:pPr algn="l"/>
            <a:r>
              <a:rPr sz="1100">
                <a:solidFill>
                  <a:srgbClr val="E2E8F0"/>
                </a:solidFill>
                <a:latin typeface="Consolas"/>
              </a:rPr>
              <a:t># Distilled direct policy  (~5)</a:t>
            </a:r>
          </a:p>
          <a:p>
            <a:pPr algn="l"/>
            <a:r>
              <a:rPr sz="1100">
                <a:solidFill>
                  <a:srgbClr val="E2E8F0"/>
                </a:solidFill>
                <a:latin typeface="Consolas"/>
              </a:rPr>
              <a:t>uv run python replay_transformer_policy.py \</a:t>
            </a:r>
          </a:p>
          <a:p>
            <a:pPr algn="l"/>
            <a:r>
              <a:rPr sz="1100">
                <a:solidFill>
                  <a:srgbClr val="E2E8F0"/>
                </a:solidFill>
                <a:latin typeface="Consolas"/>
              </a:rPr>
              <a:t>  --inprocess --max-moves 400 --model \</a:t>
            </a:r>
          </a:p>
          <a:p>
            <a:pPr algn="l"/>
            <a:r>
              <a:rPr sz="1100">
                <a:solidFill>
                  <a:srgbClr val="E2E8F0"/>
                </a:solidFill>
                <a:latin typeface="Consolas"/>
              </a:rPr>
              <a:t>  ./models/transformer_policy_soft/transformer_policy_best.keras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